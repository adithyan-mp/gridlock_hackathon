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545"/>
                </a:solidFill>
                <a:latin typeface="Arial"/>
              </a:defRPr>
            </a:pPr>
            <a:r>
              <a:rPr sz="1200" b="0" i="0" u="none" strike="noStrike">
                <a:solidFill>
                  <a:srgbClr val="0B2545"/>
                </a:solidFill>
                <a:latin typeface="Arial"/>
              </a:rPr>
              <a:t>Daily Violation Trend</a:t>
            </a:r>
          </a:p>
        </c:rich>
      </c:tx>
      <c:layout/>
      <c:overlay val="0"/>
    </c:title>
    <c:autoTitleDeleted val="0"/>
    <c:plotArea>
      <c:layout/>
      <c:barChart>
        <c:barDir val="col"/>
        <c:grouping val="clustered"/>
        <c:varyColors val="0"/>
        <c:ser>
          <c:idx val="0"/>
          <c:order val="0"/>
          <c:tx>
            <c:strRef>
              <c:f>Sheet1!$B$1</c:f>
              <c:strCache>
                <c:ptCount val="1"/>
                <c:pt idx="0">
                  <c:v>Violations</c:v>
                </c:pt>
              </c:strCache>
            </c:strRef>
          </c:tx>
          <c:spPr>
            <a:solidFill>
              <a:srgbClr val="0B2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120</c:v>
                </c:pt>
                <c:pt idx="1">
                  <c:v>98</c:v>
                </c:pt>
                <c:pt idx="2">
                  <c:v>134</c:v>
                </c:pt>
                <c:pt idx="3">
                  <c:v>110</c:v>
                </c:pt>
                <c:pt idx="4">
                  <c:v>142</c:v>
                </c:pt>
                <c:pt idx="5">
                  <c:v>165</c:v>
                </c:pt>
                <c:pt idx="6">
                  <c:v>138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2545"/>
                </a:solidFill>
                <a:latin typeface="Arial"/>
              </a:defRPr>
            </a:pPr>
            <a:r>
              <a:rPr sz="1100" b="0" i="0" u="none" strike="noStrike">
                <a:solidFill>
                  <a:srgbClr val="0B2545"/>
                </a:solidFill>
                <a:latin typeface="Arial"/>
              </a:rPr>
              <a:t>Violation Mix</a:t>
            </a:r>
          </a:p>
        </c:rich>
      </c:tx>
      <c:layout/>
      <c:overlay val="0"/>
    </c:title>
    <c:autoTitleDeleted val="0"/>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B2545"/>
              </a:solidFill>
              <a:effectLst/>
            </c:spPr>
          </c:dPt>
          <c:dPt>
            <c:idx val="1"/>
            <c:bubble3D val="0"/>
            <c:spPr>
              <a:solidFill>
                <a:srgbClr val="4A6FA5"/>
              </a:solidFill>
              <a:effectLst/>
            </c:spPr>
          </c:dPt>
          <c:dPt>
            <c:idx val="2"/>
            <c:bubble3D val="0"/>
            <c:spPr>
              <a:solidFill>
                <a:srgbClr val="FFB703"/>
              </a:solidFill>
              <a:effectLst/>
            </c:spPr>
          </c:dPt>
          <c:dPt>
            <c:idx val="3"/>
            <c:bubble3D val="0"/>
            <c:spPr>
              <a:solidFill>
                <a:srgbClr val="8FA9C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Helmet</c:v>
                </c:pt>
                <c:pt idx="1">
                  <c:v>Red-Light</c:v>
                </c:pt>
                <c:pt idx="2">
                  <c:v>Parking</c:v>
                </c:pt>
                <c:pt idx="3">
                  <c:v>Other</c:v>
                </c:pt>
              </c:strCache>
            </c:strRef>
          </c:cat>
          <c:val>
            <c:numRef>
              <c:f>Sheet1!$B$2:$B$5</c:f>
              <c:numCache>
                <c:ptCount val="4"/>
                <c:pt idx="0">
                  <c:v>34</c:v>
                </c:pt>
                <c:pt idx="1">
                  <c:v>28</c:v>
                </c:pt>
                <c:pt idx="2">
                  <c:v>19</c:v>
                </c:pt>
                <c:pt idx="3">
                  <c:v>19</c:v>
                </c:pt>
              </c:numCache>
            </c:numRef>
          </c:val>
        </c:ser>
        <c:firstSliceAng val="0"/>
        <c:holeSize val="50"/>
      </c:doughnutChart>
      <c:spPr>
        <a:noFill/>
        <a:ln>
          <a:noFill/>
        </a:ln>
        <a:effectLst/>
      </c:spPr>
    </c:plotArea>
    <c:legend>
      <c:legendPos val="b"/>
      <c:overlay val="0"/>
      <c:txPr>
        <a:bodyPr/>
        <a:lstStyle/>
        <a:p>
          <a:pPr>
            <a:defRPr sz="900">
              <a:solidFill>
                <a:srgbClr val="5B6B8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005840" y="960120"/>
            <a:ext cx="822960" cy="822960"/>
          </a:xfrm>
          <a:prstGeom prst="ellipse">
            <a:avLst/>
          </a:prstGeom>
          <a:solidFill>
            <a:srgbClr val="FFB703"/>
          </a:solidFill>
          <a:ln/>
        </p:spPr>
      </p:sp>
      <p:pic>
        <p:nvPicPr>
          <p:cNvPr id="3" name="Image 0" descr="icons/light_navy.png">    </p:cNvPr>
          <p:cNvPicPr>
            <a:picLocks noChangeAspect="1"/>
          </p:cNvPicPr>
          <p:nvPr/>
        </p:nvPicPr>
        <p:blipFill>
          <a:blip r:embed="rId1"/>
          <a:stretch>
            <a:fillRect/>
          </a:stretch>
        </p:blipFill>
        <p:spPr>
          <a:xfrm>
            <a:off x="1191006" y="1145286"/>
            <a:ext cx="452628" cy="452628"/>
          </a:xfrm>
          <a:prstGeom prst="rect">
            <a:avLst/>
          </a:prstGeom>
        </p:spPr>
      </p:pic>
      <p:sp>
        <p:nvSpPr>
          <p:cNvPr id="4" name="Text 1"/>
          <p:cNvSpPr/>
          <p:nvPr/>
        </p:nvSpPr>
        <p:spPr>
          <a:xfrm>
            <a:off x="822960" y="2331720"/>
            <a:ext cx="10515600" cy="457200"/>
          </a:xfrm>
          <a:prstGeom prst="rect">
            <a:avLst/>
          </a:prstGeom>
          <a:noFill/>
          <a:ln/>
        </p:spPr>
        <p:txBody>
          <a:bodyPr wrap="square" lIns="0" tIns="0" rIns="0" bIns="0" rtlCol="0" anchor="ctr"/>
          <a:lstStyle/>
          <a:p>
            <a:pPr indent="0" marL="0">
              <a:buNone/>
            </a:pPr>
            <a:r>
              <a:rPr lang="en-US" sz="1600" b="1" spc="200" kern="0" dirty="0">
                <a:solidFill>
                  <a:srgbClr val="FFB703"/>
                </a:solidFill>
                <a:latin typeface="Calibri" pitchFamily="34" charset="0"/>
                <a:ea typeface="Calibri" pitchFamily="34" charset="-122"/>
                <a:cs typeface="Calibri" pitchFamily="34" charset="-120"/>
              </a:rPr>
              <a:t>AI-Powered Traffic Enforcement</a:t>
            </a:r>
            <a:endParaRPr lang="en-US" sz="1600" dirty="0"/>
          </a:p>
        </p:txBody>
      </p:sp>
      <p:sp>
        <p:nvSpPr>
          <p:cNvPr id="5" name="Text 2"/>
          <p:cNvSpPr/>
          <p:nvPr/>
        </p:nvSpPr>
        <p:spPr>
          <a:xfrm>
            <a:off x="822960" y="2788920"/>
            <a:ext cx="10515600" cy="173736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Intelligent Traffic Violation Analysis</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and Evidence Generation System</a:t>
            </a:r>
            <a:endParaRPr lang="en-US" sz="4000" dirty="0"/>
          </a:p>
        </p:txBody>
      </p:sp>
      <p:sp>
        <p:nvSpPr>
          <p:cNvPr id="6" name="Text 3"/>
          <p:cNvSpPr/>
          <p:nvPr/>
        </p:nvSpPr>
        <p:spPr>
          <a:xfrm>
            <a:off x="822960" y="4617720"/>
            <a:ext cx="8961120" cy="914400"/>
          </a:xfrm>
          <a:prstGeom prst="rect">
            <a:avLst/>
          </a:prstGeom>
          <a:noFill/>
          <a:ln/>
        </p:spPr>
        <p:txBody>
          <a:bodyPr wrap="square" lIns="0" tIns="0" rIns="0" bIns="0" rtlCol="0" anchor="ctr"/>
          <a:lstStyle/>
          <a:p>
            <a:pPr indent="0" marL="0">
              <a:lnSpc>
                <a:spcPct val="125000"/>
              </a:lnSpc>
              <a:buNone/>
            </a:pPr>
            <a:r>
              <a:rPr lang="en-US" sz="1400" dirty="0">
                <a:solidFill>
                  <a:srgbClr val="DCE7F5"/>
                </a:solidFill>
                <a:latin typeface="Calibri" pitchFamily="34" charset="0"/>
                <a:ea typeface="Calibri" pitchFamily="34" charset="-122"/>
                <a:cs typeface="Calibri" pitchFamily="34" charset="-120"/>
              </a:rPr>
              <a:t>A computer-vision pipeline that detects vehicles and road users, identifies seven classes of traffic violations, reads license plates, and generates court-ready evidence — automatically, at scale.</a:t>
            </a:r>
            <a:endParaRPr lang="en-US" sz="1400" dirty="0"/>
          </a:p>
        </p:txBody>
      </p:sp>
      <p:sp>
        <p:nvSpPr>
          <p:cNvPr id="7" name="Text 4"/>
          <p:cNvSpPr/>
          <p:nvPr/>
        </p:nvSpPr>
        <p:spPr>
          <a:xfrm>
            <a:off x="822960" y="6263640"/>
            <a:ext cx="10515600" cy="320040"/>
          </a:xfrm>
          <a:prstGeom prst="rect">
            <a:avLst/>
          </a:prstGeom>
          <a:noFill/>
          <a:ln/>
        </p:spPr>
        <p:txBody>
          <a:bodyPr wrap="square" lIns="0" tIns="0" rIns="0" bIns="0" rtlCol="0" anchor="ctr"/>
          <a:lstStyle/>
          <a:p>
            <a:pPr indent="0" marL="0">
              <a:buNone/>
            </a:pPr>
            <a:r>
              <a:rPr lang="en-US" sz="1050" i="1" dirty="0">
                <a:solidFill>
                  <a:srgbClr val="8FA9CB"/>
                </a:solidFill>
                <a:latin typeface="Calibri" pitchFamily="34" charset="0"/>
                <a:ea typeface="Calibri" pitchFamily="34" charset="-122"/>
                <a:cs typeface="Calibri" pitchFamily="34" charset="-120"/>
              </a:rPr>
              <a:t>Automated Photo Identification and Classification for Traffic Violations Using Computer Vision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The Problem</a:t>
            </a:r>
            <a:endParaRPr lang="en-US" sz="3200" dirty="0"/>
          </a:p>
        </p:txBody>
      </p:sp>
      <p:sp>
        <p:nvSpPr>
          <p:cNvPr id="3" name="Text 1"/>
          <p:cNvSpPr/>
          <p:nvPr/>
        </p:nvSpPr>
        <p:spPr>
          <a:xfrm>
            <a:off x="548640" y="1024128"/>
            <a:ext cx="8686800" cy="457200"/>
          </a:xfrm>
          <a:prstGeom prst="rect">
            <a:avLst/>
          </a:prstGeom>
          <a:noFill/>
          <a:ln/>
        </p:spPr>
        <p:txBody>
          <a:bodyPr wrap="square" lIns="0" tIns="0" rIns="0" bIns="0" rtlCol="0" anchor="ctr"/>
          <a:lstStyle/>
          <a:p>
            <a:pPr indent="0" marL="0">
              <a:buNone/>
            </a:pPr>
            <a:r>
              <a:rPr lang="en-US" sz="1400" dirty="0">
                <a:solidFill>
                  <a:srgbClr val="5B6B85"/>
                </a:solidFill>
                <a:latin typeface="Calibri" pitchFamily="34" charset="0"/>
                <a:ea typeface="Calibri" pitchFamily="34" charset="-122"/>
                <a:cs typeface="Calibri" pitchFamily="34" charset="-120"/>
              </a:rPr>
              <a:t>Manual review of traffic camera footage cannot keep pace with modern surveillance volume.</a:t>
            </a:r>
            <a:endParaRPr lang="en-US" sz="1400" dirty="0"/>
          </a:p>
        </p:txBody>
      </p:sp>
      <p:sp>
        <p:nvSpPr>
          <p:cNvPr id="4" name="Shape 2"/>
          <p:cNvSpPr/>
          <p:nvPr/>
        </p:nvSpPr>
        <p:spPr>
          <a:xfrm>
            <a:off x="548640" y="1874520"/>
            <a:ext cx="3383280" cy="2011680"/>
          </a:xfrm>
          <a:prstGeom prst="roundRect">
            <a:avLst>
              <a:gd name="adj" fmla="val 3636"/>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777240" y="2148840"/>
            <a:ext cx="2926080" cy="73152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1000s</a:t>
            </a:r>
            <a:endParaRPr lang="en-US" sz="3000" dirty="0"/>
          </a:p>
        </p:txBody>
      </p:sp>
      <p:sp>
        <p:nvSpPr>
          <p:cNvPr id="6" name="Text 4"/>
          <p:cNvSpPr/>
          <p:nvPr/>
        </p:nvSpPr>
        <p:spPr>
          <a:xfrm>
            <a:off x="777240" y="2926080"/>
            <a:ext cx="2926080" cy="822960"/>
          </a:xfrm>
          <a:prstGeom prst="rect">
            <a:avLst/>
          </a:prstGeom>
          <a:noFill/>
          <a:ln/>
        </p:spPr>
        <p:txBody>
          <a:bodyPr wrap="square" lIns="0" tIns="0" rIns="0" bIns="0" rtlCol="0" anchor="ctr"/>
          <a:lstStyle/>
          <a:p>
            <a:pPr indent="0" marL="0">
              <a:lnSpc>
                <a:spcPct val="120000"/>
              </a:lnSpc>
              <a:buNone/>
            </a:pPr>
            <a:r>
              <a:rPr lang="en-US" sz="1250" dirty="0">
                <a:solidFill>
                  <a:srgbClr val="5B6B85"/>
                </a:solidFill>
                <a:latin typeface="Calibri" pitchFamily="34" charset="0"/>
                <a:ea typeface="Calibri" pitchFamily="34" charset="-122"/>
                <a:cs typeface="Calibri" pitchFamily="34" charset="-120"/>
              </a:rPr>
              <a:t>of camera feeds generating images every minute, every day</a:t>
            </a:r>
            <a:endParaRPr lang="en-US" sz="1250" dirty="0"/>
          </a:p>
        </p:txBody>
      </p:sp>
      <p:sp>
        <p:nvSpPr>
          <p:cNvPr id="7" name="Shape 5"/>
          <p:cNvSpPr/>
          <p:nvPr/>
        </p:nvSpPr>
        <p:spPr>
          <a:xfrm>
            <a:off x="4343400" y="1874520"/>
            <a:ext cx="3383280" cy="2011680"/>
          </a:xfrm>
          <a:prstGeom prst="roundRect">
            <a:avLst>
              <a:gd name="adj" fmla="val 3636"/>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4572000" y="2148840"/>
            <a:ext cx="2926080" cy="73152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Slow</a:t>
            </a:r>
            <a:endParaRPr lang="en-US" sz="3000" dirty="0"/>
          </a:p>
        </p:txBody>
      </p:sp>
      <p:sp>
        <p:nvSpPr>
          <p:cNvPr id="9" name="Text 7"/>
          <p:cNvSpPr/>
          <p:nvPr/>
        </p:nvSpPr>
        <p:spPr>
          <a:xfrm>
            <a:off x="4572000" y="2926080"/>
            <a:ext cx="2926080" cy="822960"/>
          </a:xfrm>
          <a:prstGeom prst="rect">
            <a:avLst/>
          </a:prstGeom>
          <a:noFill/>
          <a:ln/>
        </p:spPr>
        <p:txBody>
          <a:bodyPr wrap="square" lIns="0" tIns="0" rIns="0" bIns="0" rtlCol="0" anchor="ctr"/>
          <a:lstStyle/>
          <a:p>
            <a:pPr indent="0" marL="0">
              <a:lnSpc>
                <a:spcPct val="120000"/>
              </a:lnSpc>
              <a:buNone/>
            </a:pPr>
            <a:r>
              <a:rPr lang="en-US" sz="1250" dirty="0">
                <a:solidFill>
                  <a:srgbClr val="5B6B85"/>
                </a:solidFill>
                <a:latin typeface="Calibri" pitchFamily="34" charset="0"/>
                <a:ea typeface="Calibri" pitchFamily="34" charset="-122"/>
                <a:cs typeface="Calibri" pitchFamily="34" charset="-120"/>
              </a:rPr>
              <a:t>manual inspection cannot scale with camera deployment growth</a:t>
            </a:r>
            <a:endParaRPr lang="en-US" sz="1250" dirty="0"/>
          </a:p>
        </p:txBody>
      </p:sp>
      <p:sp>
        <p:nvSpPr>
          <p:cNvPr id="10" name="Shape 8"/>
          <p:cNvSpPr/>
          <p:nvPr/>
        </p:nvSpPr>
        <p:spPr>
          <a:xfrm>
            <a:off x="8138160" y="1874520"/>
            <a:ext cx="3383280" cy="2011680"/>
          </a:xfrm>
          <a:prstGeom prst="roundRect">
            <a:avLst>
              <a:gd name="adj" fmla="val 3636"/>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8366760" y="2148840"/>
            <a:ext cx="2926080" cy="73152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Inconsistent</a:t>
            </a:r>
            <a:endParaRPr lang="en-US" sz="3000" dirty="0"/>
          </a:p>
        </p:txBody>
      </p:sp>
      <p:sp>
        <p:nvSpPr>
          <p:cNvPr id="12" name="Text 10"/>
          <p:cNvSpPr/>
          <p:nvPr/>
        </p:nvSpPr>
        <p:spPr>
          <a:xfrm>
            <a:off x="8366760" y="2926080"/>
            <a:ext cx="2926080" cy="822960"/>
          </a:xfrm>
          <a:prstGeom prst="rect">
            <a:avLst/>
          </a:prstGeom>
          <a:noFill/>
          <a:ln/>
        </p:spPr>
        <p:txBody>
          <a:bodyPr wrap="square" lIns="0" tIns="0" rIns="0" bIns="0" rtlCol="0" anchor="ctr"/>
          <a:lstStyle/>
          <a:p>
            <a:pPr indent="0" marL="0">
              <a:lnSpc>
                <a:spcPct val="120000"/>
              </a:lnSpc>
              <a:buNone/>
            </a:pPr>
            <a:r>
              <a:rPr lang="en-US" sz="1250" dirty="0">
                <a:solidFill>
                  <a:srgbClr val="5B6B85"/>
                </a:solidFill>
                <a:latin typeface="Calibri" pitchFamily="34" charset="0"/>
                <a:ea typeface="Calibri" pitchFamily="34" charset="-122"/>
                <a:cs typeface="Calibri" pitchFamily="34" charset="-120"/>
              </a:rPr>
              <a:t>human review produces variable, error-prone judgments</a:t>
            </a:r>
            <a:endParaRPr lang="en-US" sz="1250" dirty="0"/>
          </a:p>
        </p:txBody>
      </p:sp>
      <p:sp>
        <p:nvSpPr>
          <p:cNvPr id="13" name="Shape 11"/>
          <p:cNvSpPr/>
          <p:nvPr/>
        </p:nvSpPr>
        <p:spPr>
          <a:xfrm>
            <a:off x="548640" y="4251960"/>
            <a:ext cx="11064240" cy="1417320"/>
          </a:xfrm>
          <a:prstGeom prst="roundRect">
            <a:avLst>
              <a:gd name="adj" fmla="val 5161"/>
            </a:avLst>
          </a:prstGeom>
          <a:solidFill>
            <a:srgbClr val="0B2545"/>
          </a:solidFill>
          <a:ln/>
        </p:spPr>
      </p:sp>
      <p:sp>
        <p:nvSpPr>
          <p:cNvPr id="14" name="Shape 12"/>
          <p:cNvSpPr/>
          <p:nvPr/>
        </p:nvSpPr>
        <p:spPr>
          <a:xfrm>
            <a:off x="1028700" y="4567428"/>
            <a:ext cx="777240" cy="777240"/>
          </a:xfrm>
          <a:prstGeom prst="ellipse">
            <a:avLst/>
          </a:prstGeom>
          <a:solidFill>
            <a:srgbClr val="FFB703"/>
          </a:solidFill>
          <a:ln/>
        </p:spPr>
      </p:sp>
      <p:pic>
        <p:nvPicPr>
          <p:cNvPr id="15" name="Image 0" descr="icons/warning_navy.png">    </p:cNvPr>
          <p:cNvPicPr>
            <a:picLocks noChangeAspect="1"/>
          </p:cNvPicPr>
          <p:nvPr/>
        </p:nvPicPr>
        <p:blipFill>
          <a:blip r:embed="rId1"/>
          <a:stretch>
            <a:fillRect/>
          </a:stretch>
        </p:blipFill>
        <p:spPr>
          <a:xfrm>
            <a:off x="1223010" y="4761738"/>
            <a:ext cx="388620" cy="388620"/>
          </a:xfrm>
          <a:prstGeom prst="rect">
            <a:avLst/>
          </a:prstGeom>
        </p:spPr>
      </p:pic>
      <p:sp>
        <p:nvSpPr>
          <p:cNvPr id="16" name="Text 13"/>
          <p:cNvSpPr/>
          <p:nvPr/>
        </p:nvSpPr>
        <p:spPr>
          <a:xfrm>
            <a:off x="2103120" y="4526280"/>
            <a:ext cx="9144000" cy="86868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Result: enforcement gaps, delayed penalties, and road-safety risks that compound as cities deploy more cameras without proportionally more reviewers.</a:t>
            </a:r>
            <a:endParaRPr lang="en-US" sz="1400" dirty="0"/>
          </a:p>
        </p:txBody>
      </p:sp>
      <p:sp>
        <p:nvSpPr>
          <p:cNvPr id="17"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18" name="Text 1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Our Objective</a:t>
            </a:r>
            <a:endParaRPr lang="en-US" sz="3200" dirty="0"/>
          </a:p>
        </p:txBody>
      </p:sp>
      <p:sp>
        <p:nvSpPr>
          <p:cNvPr id="3" name="Text 1"/>
          <p:cNvSpPr/>
          <p:nvPr/>
        </p:nvSpPr>
        <p:spPr>
          <a:xfrm>
            <a:off x="548640" y="1143000"/>
            <a:ext cx="6400800" cy="2377440"/>
          </a:xfrm>
          <a:prstGeom prst="rect">
            <a:avLst/>
          </a:prstGeom>
          <a:noFill/>
          <a:ln/>
        </p:spPr>
        <p:txBody>
          <a:bodyPr wrap="square" lIns="0" tIns="0" rIns="0" bIns="0" rtlCol="0" anchor="ctr"/>
          <a:lstStyle/>
          <a:p>
            <a:pPr indent="0" marL="0">
              <a:lnSpc>
                <a:spcPct val="135000"/>
              </a:lnSpc>
              <a:buNone/>
            </a:pPr>
            <a:r>
              <a:rPr lang="en-US" sz="1450" dirty="0">
                <a:solidFill>
                  <a:srgbClr val="0B2545"/>
                </a:solidFill>
                <a:latin typeface="Calibri" pitchFamily="34" charset="0"/>
                <a:ea typeface="Calibri" pitchFamily="34" charset="-122"/>
                <a:cs typeface="Calibri" pitchFamily="34" charset="-120"/>
              </a:rPr>
              <a:t>Build an end-to-end computer-vision system that automatically processes traffic images, detects vehicles and road users, identifies violations, classifies their type, and generates annotated, audit-ready evidence — robust to real-world conditions and scalable across a city-wide camera network.</a:t>
            </a:r>
            <a:endParaRPr lang="en-US" sz="1450" dirty="0"/>
          </a:p>
        </p:txBody>
      </p:sp>
      <p:sp>
        <p:nvSpPr>
          <p:cNvPr id="4" name="Shape 2"/>
          <p:cNvSpPr/>
          <p:nvPr/>
        </p:nvSpPr>
        <p:spPr>
          <a:xfrm>
            <a:off x="708660" y="3790188"/>
            <a:ext cx="502920" cy="502920"/>
          </a:xfrm>
          <a:prstGeom prst="ellipse">
            <a:avLst/>
          </a:prstGeom>
          <a:solidFill>
            <a:srgbClr val="DCE7F5"/>
          </a:solidFill>
          <a:ln/>
        </p:spPr>
      </p:sp>
      <p:pic>
        <p:nvPicPr>
          <p:cNvPr id="5" name="Image 0" descr="icons/eye_navy.png">    </p:cNvPr>
          <p:cNvPicPr>
            <a:picLocks noChangeAspect="1"/>
          </p:cNvPicPr>
          <p:nvPr/>
        </p:nvPicPr>
        <p:blipFill>
          <a:blip r:embed="rId1"/>
          <a:stretch>
            <a:fillRect/>
          </a:stretch>
        </p:blipFill>
        <p:spPr>
          <a:xfrm>
            <a:off x="821817" y="3903345"/>
            <a:ext cx="276606" cy="276606"/>
          </a:xfrm>
          <a:prstGeom prst="rect">
            <a:avLst/>
          </a:prstGeom>
        </p:spPr>
      </p:pic>
      <p:sp>
        <p:nvSpPr>
          <p:cNvPr id="6" name="Text 3"/>
          <p:cNvSpPr/>
          <p:nvPr/>
        </p:nvSpPr>
        <p:spPr>
          <a:xfrm>
            <a:off x="1371600" y="3794760"/>
            <a:ext cx="201168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Detect</a:t>
            </a:r>
            <a:endParaRPr lang="en-US" sz="1300" dirty="0"/>
          </a:p>
        </p:txBody>
      </p:sp>
      <p:sp>
        <p:nvSpPr>
          <p:cNvPr id="7" name="Text 4"/>
          <p:cNvSpPr/>
          <p:nvPr/>
        </p:nvSpPr>
        <p:spPr>
          <a:xfrm>
            <a:off x="1371600" y="4041648"/>
            <a:ext cx="4389120" cy="27432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Vehicles, riders &amp; pedestrians</a:t>
            </a:r>
            <a:endParaRPr lang="en-US" sz="1150" dirty="0"/>
          </a:p>
        </p:txBody>
      </p:sp>
      <p:sp>
        <p:nvSpPr>
          <p:cNvPr id="8" name="Shape 5"/>
          <p:cNvSpPr/>
          <p:nvPr/>
        </p:nvSpPr>
        <p:spPr>
          <a:xfrm>
            <a:off x="708660" y="4567428"/>
            <a:ext cx="502920" cy="502920"/>
          </a:xfrm>
          <a:prstGeom prst="ellipse">
            <a:avLst/>
          </a:prstGeom>
          <a:solidFill>
            <a:srgbClr val="DCE7F5"/>
          </a:solidFill>
          <a:ln/>
        </p:spPr>
      </p:sp>
      <p:pic>
        <p:nvPicPr>
          <p:cNvPr id="9" name="Image 1" descr="icons/shield_navy.png">    </p:cNvPr>
          <p:cNvPicPr>
            <a:picLocks noChangeAspect="1"/>
          </p:cNvPicPr>
          <p:nvPr/>
        </p:nvPicPr>
        <p:blipFill>
          <a:blip r:embed="rId2"/>
          <a:stretch>
            <a:fillRect/>
          </a:stretch>
        </p:blipFill>
        <p:spPr>
          <a:xfrm>
            <a:off x="821817" y="4680585"/>
            <a:ext cx="276606" cy="276606"/>
          </a:xfrm>
          <a:prstGeom prst="rect">
            <a:avLst/>
          </a:prstGeom>
        </p:spPr>
      </p:pic>
      <p:sp>
        <p:nvSpPr>
          <p:cNvPr id="10" name="Text 6"/>
          <p:cNvSpPr/>
          <p:nvPr/>
        </p:nvSpPr>
        <p:spPr>
          <a:xfrm>
            <a:off x="1371600" y="4572000"/>
            <a:ext cx="201168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Classify</a:t>
            </a:r>
            <a:endParaRPr lang="en-US" sz="1300" dirty="0"/>
          </a:p>
        </p:txBody>
      </p:sp>
      <p:sp>
        <p:nvSpPr>
          <p:cNvPr id="11" name="Text 7"/>
          <p:cNvSpPr/>
          <p:nvPr/>
        </p:nvSpPr>
        <p:spPr>
          <a:xfrm>
            <a:off x="1371600" y="4818888"/>
            <a:ext cx="4389120" cy="27432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7 violation types, confidently</a:t>
            </a:r>
            <a:endParaRPr lang="en-US" sz="1150" dirty="0"/>
          </a:p>
        </p:txBody>
      </p:sp>
      <p:sp>
        <p:nvSpPr>
          <p:cNvPr id="12" name="Shape 8"/>
          <p:cNvSpPr/>
          <p:nvPr/>
        </p:nvSpPr>
        <p:spPr>
          <a:xfrm>
            <a:off x="708660" y="5344668"/>
            <a:ext cx="502920" cy="502920"/>
          </a:xfrm>
          <a:prstGeom prst="ellipse">
            <a:avLst/>
          </a:prstGeom>
          <a:solidFill>
            <a:srgbClr val="DCE7F5"/>
          </a:solidFill>
          <a:ln/>
        </p:spPr>
      </p:sp>
      <p:pic>
        <p:nvPicPr>
          <p:cNvPr id="13" name="Image 2" descr="icons/speed_navy.png">    </p:cNvPr>
          <p:cNvPicPr>
            <a:picLocks noChangeAspect="1"/>
          </p:cNvPicPr>
          <p:nvPr/>
        </p:nvPicPr>
        <p:blipFill>
          <a:blip r:embed="rId3"/>
          <a:stretch>
            <a:fillRect/>
          </a:stretch>
        </p:blipFill>
        <p:spPr>
          <a:xfrm>
            <a:off x="821817" y="5457825"/>
            <a:ext cx="276606" cy="276606"/>
          </a:xfrm>
          <a:prstGeom prst="rect">
            <a:avLst/>
          </a:prstGeom>
        </p:spPr>
      </p:pic>
      <p:sp>
        <p:nvSpPr>
          <p:cNvPr id="14" name="Text 9"/>
          <p:cNvSpPr/>
          <p:nvPr/>
        </p:nvSpPr>
        <p:spPr>
          <a:xfrm>
            <a:off x="1371600" y="5349240"/>
            <a:ext cx="201168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Scale</a:t>
            </a:r>
            <a:endParaRPr lang="en-US" sz="1300" dirty="0"/>
          </a:p>
        </p:txBody>
      </p:sp>
      <p:sp>
        <p:nvSpPr>
          <p:cNvPr id="15" name="Text 10"/>
          <p:cNvSpPr/>
          <p:nvPr/>
        </p:nvSpPr>
        <p:spPr>
          <a:xfrm>
            <a:off x="1371600" y="5596128"/>
            <a:ext cx="4389120" cy="27432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Real-time, multi-camera ready</a:t>
            </a:r>
            <a:endParaRPr lang="en-US" sz="1150" dirty="0"/>
          </a:p>
        </p:txBody>
      </p:sp>
      <p:sp>
        <p:nvSpPr>
          <p:cNvPr id="16" name="Shape 11"/>
          <p:cNvSpPr/>
          <p:nvPr/>
        </p:nvSpPr>
        <p:spPr>
          <a:xfrm>
            <a:off x="7406640" y="1143000"/>
            <a:ext cx="4206240" cy="4983480"/>
          </a:xfrm>
          <a:prstGeom prst="roundRect">
            <a:avLst>
              <a:gd name="adj" fmla="val 2174"/>
            </a:avLst>
          </a:prstGeom>
          <a:solidFill>
            <a:srgbClr val="0B2545"/>
          </a:solidFill>
          <a:ln/>
          <a:effectLst>
            <a:outerShdw sx="100000" sy="100000" kx="0" ky="0" algn="bl" rotWithShape="0" blurRad="101600" dist="38100" dir="2700000">
              <a:srgbClr val="000000">
                <a:alpha val="12000"/>
              </a:srgbClr>
            </a:outerShdw>
          </a:effectLst>
        </p:spPr>
      </p:sp>
      <p:sp>
        <p:nvSpPr>
          <p:cNvPr id="17" name="Text 12"/>
          <p:cNvSpPr/>
          <p:nvPr/>
        </p:nvSpPr>
        <p:spPr>
          <a:xfrm>
            <a:off x="7772400" y="1463040"/>
            <a:ext cx="3474720" cy="365760"/>
          </a:xfrm>
          <a:prstGeom prst="rect">
            <a:avLst/>
          </a:prstGeom>
          <a:noFill/>
          <a:ln/>
        </p:spPr>
        <p:txBody>
          <a:bodyPr wrap="square" lIns="0" tIns="0" rIns="0" bIns="0"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System at a Glance</a:t>
            </a:r>
            <a:endParaRPr lang="en-US" sz="1300" dirty="0"/>
          </a:p>
        </p:txBody>
      </p:sp>
      <p:sp>
        <p:nvSpPr>
          <p:cNvPr id="18" name="Text 13"/>
          <p:cNvSpPr/>
          <p:nvPr/>
        </p:nvSpPr>
        <p:spPr>
          <a:xfrm>
            <a:off x="7772400" y="2057400"/>
            <a:ext cx="12801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15</a:t>
            </a:r>
            <a:endParaRPr lang="en-US" sz="3400" dirty="0"/>
          </a:p>
        </p:txBody>
      </p:sp>
      <p:sp>
        <p:nvSpPr>
          <p:cNvPr id="19" name="Text 14"/>
          <p:cNvSpPr/>
          <p:nvPr/>
        </p:nvSpPr>
        <p:spPr>
          <a:xfrm>
            <a:off x="9098280" y="2221992"/>
            <a:ext cx="2286000" cy="457200"/>
          </a:xfrm>
          <a:prstGeom prst="rect">
            <a:avLst/>
          </a:prstGeom>
          <a:noFill/>
          <a:ln/>
        </p:spPr>
        <p:txBody>
          <a:bodyPr wrap="square" lIns="0" tIns="0" rIns="0" bIns="0" rtlCol="0" anchor="ctr"/>
          <a:lstStyle/>
          <a:p>
            <a:pPr indent="0" marL="0">
              <a:buNone/>
            </a:pPr>
            <a:r>
              <a:rPr lang="en-US" sz="1250" dirty="0">
                <a:solidFill>
                  <a:srgbClr val="DCE7F5"/>
                </a:solidFill>
                <a:latin typeface="Calibri" pitchFamily="34" charset="0"/>
                <a:ea typeface="Calibri" pitchFamily="34" charset="-122"/>
                <a:cs typeface="Calibri" pitchFamily="34" charset="-120"/>
              </a:rPr>
              <a:t>pipeline stages</a:t>
            </a:r>
            <a:endParaRPr lang="en-US" sz="1250" dirty="0"/>
          </a:p>
        </p:txBody>
      </p:sp>
      <p:sp>
        <p:nvSpPr>
          <p:cNvPr id="20" name="Text 15"/>
          <p:cNvSpPr/>
          <p:nvPr/>
        </p:nvSpPr>
        <p:spPr>
          <a:xfrm>
            <a:off x="7772400" y="3017520"/>
            <a:ext cx="12801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a:t>
            </a:r>
            <a:endParaRPr lang="en-US" sz="3400" dirty="0"/>
          </a:p>
        </p:txBody>
      </p:sp>
      <p:sp>
        <p:nvSpPr>
          <p:cNvPr id="21" name="Text 16"/>
          <p:cNvSpPr/>
          <p:nvPr/>
        </p:nvSpPr>
        <p:spPr>
          <a:xfrm>
            <a:off x="9098280" y="3182112"/>
            <a:ext cx="2286000" cy="457200"/>
          </a:xfrm>
          <a:prstGeom prst="rect">
            <a:avLst/>
          </a:prstGeom>
          <a:noFill/>
          <a:ln/>
        </p:spPr>
        <p:txBody>
          <a:bodyPr wrap="square" lIns="0" tIns="0" rIns="0" bIns="0" rtlCol="0" anchor="ctr"/>
          <a:lstStyle/>
          <a:p>
            <a:pPr indent="0" marL="0">
              <a:buNone/>
            </a:pPr>
            <a:r>
              <a:rPr lang="en-US" sz="1250" dirty="0">
                <a:solidFill>
                  <a:srgbClr val="DCE7F5"/>
                </a:solidFill>
                <a:latin typeface="Calibri" pitchFamily="34" charset="0"/>
                <a:ea typeface="Calibri" pitchFamily="34" charset="-122"/>
                <a:cs typeface="Calibri" pitchFamily="34" charset="-120"/>
              </a:rPr>
              <a:t>object classes detected</a:t>
            </a:r>
            <a:endParaRPr lang="en-US" sz="1250" dirty="0"/>
          </a:p>
        </p:txBody>
      </p:sp>
      <p:sp>
        <p:nvSpPr>
          <p:cNvPr id="22" name="Text 17"/>
          <p:cNvSpPr/>
          <p:nvPr/>
        </p:nvSpPr>
        <p:spPr>
          <a:xfrm>
            <a:off x="7772400" y="3977640"/>
            <a:ext cx="12801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23" name="Text 18"/>
          <p:cNvSpPr/>
          <p:nvPr/>
        </p:nvSpPr>
        <p:spPr>
          <a:xfrm>
            <a:off x="9098280" y="4142232"/>
            <a:ext cx="2286000" cy="457200"/>
          </a:xfrm>
          <a:prstGeom prst="rect">
            <a:avLst/>
          </a:prstGeom>
          <a:noFill/>
          <a:ln/>
        </p:spPr>
        <p:txBody>
          <a:bodyPr wrap="square" lIns="0" tIns="0" rIns="0" bIns="0" rtlCol="0" anchor="ctr"/>
          <a:lstStyle/>
          <a:p>
            <a:pPr indent="0" marL="0">
              <a:buNone/>
            </a:pPr>
            <a:r>
              <a:rPr lang="en-US" sz="1250" dirty="0">
                <a:solidFill>
                  <a:srgbClr val="DCE7F5"/>
                </a:solidFill>
                <a:latin typeface="Calibri" pitchFamily="34" charset="0"/>
                <a:ea typeface="Calibri" pitchFamily="34" charset="-122"/>
                <a:cs typeface="Calibri" pitchFamily="34" charset="-120"/>
              </a:rPr>
              <a:t>violation types covered</a:t>
            </a:r>
            <a:endParaRPr lang="en-US" sz="1250" dirty="0"/>
          </a:p>
        </p:txBody>
      </p:sp>
      <p:sp>
        <p:nvSpPr>
          <p:cNvPr id="24" name="Text 19"/>
          <p:cNvSpPr/>
          <p:nvPr/>
        </p:nvSpPr>
        <p:spPr>
          <a:xfrm>
            <a:off x="7772400" y="4937760"/>
            <a:ext cx="12801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25" name="Text 20"/>
          <p:cNvSpPr/>
          <p:nvPr/>
        </p:nvSpPr>
        <p:spPr>
          <a:xfrm>
            <a:off x="9098280" y="5102352"/>
            <a:ext cx="2286000" cy="457200"/>
          </a:xfrm>
          <a:prstGeom prst="rect">
            <a:avLst/>
          </a:prstGeom>
          <a:noFill/>
          <a:ln/>
        </p:spPr>
        <p:txBody>
          <a:bodyPr wrap="square" lIns="0" tIns="0" rIns="0" bIns="0" rtlCol="0" anchor="ctr"/>
          <a:lstStyle/>
          <a:p>
            <a:pPr indent="0" marL="0">
              <a:buNone/>
            </a:pPr>
            <a:r>
              <a:rPr lang="en-US" sz="1250" dirty="0">
                <a:solidFill>
                  <a:srgbClr val="DCE7F5"/>
                </a:solidFill>
                <a:latin typeface="Calibri" pitchFamily="34" charset="0"/>
                <a:ea typeface="Calibri" pitchFamily="34" charset="-122"/>
                <a:cs typeface="Calibri" pitchFamily="34" charset="-120"/>
              </a:rPr>
              <a:t>evaluation domains tracked</a:t>
            </a:r>
            <a:endParaRPr lang="en-US" sz="1250" dirty="0"/>
          </a:p>
        </p:txBody>
      </p:sp>
      <p:sp>
        <p:nvSpPr>
          <p:cNvPr id="26" name="Text 2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27" name="Text 2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11480"/>
            <a:ext cx="7315200" cy="50292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End-to-End Pipeline</a:t>
            </a:r>
            <a:endParaRPr lang="en-US" sz="3000" dirty="0"/>
          </a:p>
        </p:txBody>
      </p:sp>
      <p:sp>
        <p:nvSpPr>
          <p:cNvPr id="3" name="Text 1"/>
          <p:cNvSpPr/>
          <p:nvPr/>
        </p:nvSpPr>
        <p:spPr>
          <a:xfrm>
            <a:off x="548640" y="932688"/>
            <a:ext cx="8229600" cy="36576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Fifteen stages, from raw camera feed to enforcement-ready record.</a:t>
            </a:r>
            <a:endParaRPr lang="en-US" sz="1300" dirty="0"/>
          </a:p>
        </p:txBody>
      </p:sp>
      <p:sp>
        <p:nvSpPr>
          <p:cNvPr id="4" name="Shape 2"/>
          <p:cNvSpPr/>
          <p:nvPr/>
        </p:nvSpPr>
        <p:spPr>
          <a:xfrm>
            <a:off x="548640" y="1508760"/>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658368" y="1581912"/>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1</a:t>
            </a:r>
            <a:endParaRPr lang="en-US" sz="1000" dirty="0"/>
          </a:p>
        </p:txBody>
      </p:sp>
      <p:pic>
        <p:nvPicPr>
          <p:cNvPr id="6" name="Image 0" descr="icons/camera_navy.png">    </p:cNvPr>
          <p:cNvPicPr>
            <a:picLocks noChangeAspect="1"/>
          </p:cNvPicPr>
          <p:nvPr/>
        </p:nvPicPr>
        <p:blipFill>
          <a:blip r:embed="rId1"/>
          <a:stretch>
            <a:fillRect/>
          </a:stretch>
        </p:blipFill>
        <p:spPr>
          <a:xfrm>
            <a:off x="2212848" y="1600200"/>
            <a:ext cx="274320" cy="274320"/>
          </a:xfrm>
          <a:prstGeom prst="rect">
            <a:avLst/>
          </a:prstGeom>
        </p:spPr>
      </p:pic>
      <p:sp>
        <p:nvSpPr>
          <p:cNvPr id="7" name="Text 4"/>
          <p:cNvSpPr/>
          <p:nvPr/>
        </p:nvSpPr>
        <p:spPr>
          <a:xfrm>
            <a:off x="658368" y="1892808"/>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Image Acquisition</a:t>
            </a:r>
            <a:endParaRPr lang="en-US" sz="1050" dirty="0"/>
          </a:p>
        </p:txBody>
      </p:sp>
      <p:sp>
        <p:nvSpPr>
          <p:cNvPr id="8" name="Shape 5"/>
          <p:cNvSpPr/>
          <p:nvPr/>
        </p:nvSpPr>
        <p:spPr>
          <a:xfrm>
            <a:off x="2834640" y="1508760"/>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9" name="Text 6"/>
          <p:cNvSpPr/>
          <p:nvPr/>
        </p:nvSpPr>
        <p:spPr>
          <a:xfrm>
            <a:off x="2944368" y="1581912"/>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2</a:t>
            </a:r>
            <a:endParaRPr lang="en-US" sz="1000" dirty="0"/>
          </a:p>
        </p:txBody>
      </p:sp>
      <p:pic>
        <p:nvPicPr>
          <p:cNvPr id="10" name="Image 1" descr="icons/cogs_navy.png">    </p:cNvPr>
          <p:cNvPicPr>
            <a:picLocks noChangeAspect="1"/>
          </p:cNvPicPr>
          <p:nvPr/>
        </p:nvPicPr>
        <p:blipFill>
          <a:blip r:embed="rId2"/>
          <a:stretch>
            <a:fillRect/>
          </a:stretch>
        </p:blipFill>
        <p:spPr>
          <a:xfrm>
            <a:off x="4498848" y="1600200"/>
            <a:ext cx="274320" cy="274320"/>
          </a:xfrm>
          <a:prstGeom prst="rect">
            <a:avLst/>
          </a:prstGeom>
        </p:spPr>
      </p:pic>
      <p:sp>
        <p:nvSpPr>
          <p:cNvPr id="11" name="Text 7"/>
          <p:cNvSpPr/>
          <p:nvPr/>
        </p:nvSpPr>
        <p:spPr>
          <a:xfrm>
            <a:off x="2944368" y="1892808"/>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Adaptive Preprocessing</a:t>
            </a:r>
            <a:endParaRPr lang="en-US" sz="1050" dirty="0"/>
          </a:p>
        </p:txBody>
      </p:sp>
      <p:sp>
        <p:nvSpPr>
          <p:cNvPr id="12" name="Shape 8"/>
          <p:cNvSpPr/>
          <p:nvPr/>
        </p:nvSpPr>
        <p:spPr>
          <a:xfrm>
            <a:off x="5120640" y="1508760"/>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13" name="Text 9"/>
          <p:cNvSpPr/>
          <p:nvPr/>
        </p:nvSpPr>
        <p:spPr>
          <a:xfrm>
            <a:off x="5230368" y="1581912"/>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3</a:t>
            </a:r>
            <a:endParaRPr lang="en-US" sz="1000" dirty="0"/>
          </a:p>
        </p:txBody>
      </p:sp>
      <p:pic>
        <p:nvPicPr>
          <p:cNvPr id="14" name="Image 2" descr="icons/car_navy.png">    </p:cNvPr>
          <p:cNvPicPr>
            <a:picLocks noChangeAspect="1"/>
          </p:cNvPicPr>
          <p:nvPr/>
        </p:nvPicPr>
        <p:blipFill>
          <a:blip r:embed="rId3"/>
          <a:stretch>
            <a:fillRect/>
          </a:stretch>
        </p:blipFill>
        <p:spPr>
          <a:xfrm>
            <a:off x="6784848" y="1600200"/>
            <a:ext cx="274320" cy="274320"/>
          </a:xfrm>
          <a:prstGeom prst="rect">
            <a:avLst/>
          </a:prstGeom>
        </p:spPr>
      </p:pic>
      <p:sp>
        <p:nvSpPr>
          <p:cNvPr id="15" name="Text 10"/>
          <p:cNvSpPr/>
          <p:nvPr/>
        </p:nvSpPr>
        <p:spPr>
          <a:xfrm>
            <a:off x="5230368" y="1892808"/>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Vehicle &amp; Road-User Detection</a:t>
            </a:r>
            <a:endParaRPr lang="en-US" sz="1050" dirty="0"/>
          </a:p>
        </p:txBody>
      </p:sp>
      <p:sp>
        <p:nvSpPr>
          <p:cNvPr id="16" name="Shape 11"/>
          <p:cNvSpPr/>
          <p:nvPr/>
        </p:nvSpPr>
        <p:spPr>
          <a:xfrm>
            <a:off x="7406640" y="1508760"/>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17" name="Text 12"/>
          <p:cNvSpPr/>
          <p:nvPr/>
        </p:nvSpPr>
        <p:spPr>
          <a:xfrm>
            <a:off x="7516368" y="1581912"/>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4</a:t>
            </a:r>
            <a:endParaRPr lang="en-US" sz="1000" dirty="0"/>
          </a:p>
        </p:txBody>
      </p:sp>
      <p:pic>
        <p:nvPicPr>
          <p:cNvPr id="18" name="Image 3" descr="icons/road_navy.png">    </p:cNvPr>
          <p:cNvPicPr>
            <a:picLocks noChangeAspect="1"/>
          </p:cNvPicPr>
          <p:nvPr/>
        </p:nvPicPr>
        <p:blipFill>
          <a:blip r:embed="rId4"/>
          <a:stretch>
            <a:fillRect/>
          </a:stretch>
        </p:blipFill>
        <p:spPr>
          <a:xfrm>
            <a:off x="9070848" y="1600200"/>
            <a:ext cx="274320" cy="274320"/>
          </a:xfrm>
          <a:prstGeom prst="rect">
            <a:avLst/>
          </a:prstGeom>
        </p:spPr>
      </p:pic>
      <p:sp>
        <p:nvSpPr>
          <p:cNvPr id="19" name="Text 13"/>
          <p:cNvSpPr/>
          <p:nvPr/>
        </p:nvSpPr>
        <p:spPr>
          <a:xfrm>
            <a:off x="7516368" y="1892808"/>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Road Infrastructure Detection</a:t>
            </a:r>
            <a:endParaRPr lang="en-US" sz="1050" dirty="0"/>
          </a:p>
        </p:txBody>
      </p:sp>
      <p:sp>
        <p:nvSpPr>
          <p:cNvPr id="20" name="Shape 14"/>
          <p:cNvSpPr/>
          <p:nvPr/>
        </p:nvSpPr>
        <p:spPr>
          <a:xfrm>
            <a:off x="9692640" y="1508760"/>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21" name="Text 15"/>
          <p:cNvSpPr/>
          <p:nvPr/>
        </p:nvSpPr>
        <p:spPr>
          <a:xfrm>
            <a:off x="9802368" y="1581912"/>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5</a:t>
            </a:r>
            <a:endParaRPr lang="en-US" sz="1000" dirty="0"/>
          </a:p>
        </p:txBody>
      </p:sp>
      <p:pic>
        <p:nvPicPr>
          <p:cNvPr id="22" name="Image 4" descr="icons/layers_navy.png">    </p:cNvPr>
          <p:cNvPicPr>
            <a:picLocks noChangeAspect="1"/>
          </p:cNvPicPr>
          <p:nvPr/>
        </p:nvPicPr>
        <p:blipFill>
          <a:blip r:embed="rId5"/>
          <a:stretch>
            <a:fillRect/>
          </a:stretch>
        </p:blipFill>
        <p:spPr>
          <a:xfrm>
            <a:off x="11356848" y="1600200"/>
            <a:ext cx="274320" cy="274320"/>
          </a:xfrm>
          <a:prstGeom prst="rect">
            <a:avLst/>
          </a:prstGeom>
        </p:spPr>
      </p:pic>
      <p:sp>
        <p:nvSpPr>
          <p:cNvPr id="23" name="Text 16"/>
          <p:cNvSpPr/>
          <p:nvPr/>
        </p:nvSpPr>
        <p:spPr>
          <a:xfrm>
            <a:off x="9802368" y="1892808"/>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Multi-Object Tracking</a:t>
            </a:r>
            <a:endParaRPr lang="en-US" sz="1050" dirty="0"/>
          </a:p>
        </p:txBody>
      </p:sp>
      <p:sp>
        <p:nvSpPr>
          <p:cNvPr id="24" name="Shape 17"/>
          <p:cNvSpPr/>
          <p:nvPr/>
        </p:nvSpPr>
        <p:spPr>
          <a:xfrm>
            <a:off x="548640" y="3090672"/>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25" name="Text 18"/>
          <p:cNvSpPr/>
          <p:nvPr/>
        </p:nvSpPr>
        <p:spPr>
          <a:xfrm>
            <a:off x="658368" y="3163824"/>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6</a:t>
            </a:r>
            <a:endParaRPr lang="en-US" sz="1000" dirty="0"/>
          </a:p>
        </p:txBody>
      </p:sp>
      <p:pic>
        <p:nvPicPr>
          <p:cNvPr id="26" name="Image 5" descr="icons/moto_navy.png">    </p:cNvPr>
          <p:cNvPicPr>
            <a:picLocks noChangeAspect="1"/>
          </p:cNvPicPr>
          <p:nvPr/>
        </p:nvPicPr>
        <p:blipFill>
          <a:blip r:embed="rId6"/>
          <a:stretch>
            <a:fillRect/>
          </a:stretch>
        </p:blipFill>
        <p:spPr>
          <a:xfrm>
            <a:off x="2212848" y="3182112"/>
            <a:ext cx="274320" cy="274320"/>
          </a:xfrm>
          <a:prstGeom prst="rect">
            <a:avLst/>
          </a:prstGeom>
        </p:spPr>
      </p:pic>
      <p:sp>
        <p:nvSpPr>
          <p:cNvPr id="27" name="Text 19"/>
          <p:cNvSpPr/>
          <p:nvPr/>
        </p:nvSpPr>
        <p:spPr>
          <a:xfrm>
            <a:off x="658368" y="3474720"/>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Vehicle–Rider Association</a:t>
            </a:r>
            <a:endParaRPr lang="en-US" sz="1050" dirty="0"/>
          </a:p>
        </p:txBody>
      </p:sp>
      <p:sp>
        <p:nvSpPr>
          <p:cNvPr id="28" name="Shape 20"/>
          <p:cNvSpPr/>
          <p:nvPr/>
        </p:nvSpPr>
        <p:spPr>
          <a:xfrm>
            <a:off x="2834640" y="3090672"/>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29" name="Text 21"/>
          <p:cNvSpPr/>
          <p:nvPr/>
        </p:nvSpPr>
        <p:spPr>
          <a:xfrm>
            <a:off x="2944368" y="3163824"/>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7</a:t>
            </a:r>
            <a:endParaRPr lang="en-US" sz="1000" dirty="0"/>
          </a:p>
        </p:txBody>
      </p:sp>
      <p:pic>
        <p:nvPicPr>
          <p:cNvPr id="30" name="Image 6" descr="icons/warning_navy.png">    </p:cNvPr>
          <p:cNvPicPr>
            <a:picLocks noChangeAspect="1"/>
          </p:cNvPicPr>
          <p:nvPr/>
        </p:nvPicPr>
        <p:blipFill>
          <a:blip r:embed="rId7"/>
          <a:stretch>
            <a:fillRect/>
          </a:stretch>
        </p:blipFill>
        <p:spPr>
          <a:xfrm>
            <a:off x="4498848" y="3182112"/>
            <a:ext cx="274320" cy="274320"/>
          </a:xfrm>
          <a:prstGeom prst="rect">
            <a:avLst/>
          </a:prstGeom>
        </p:spPr>
      </p:pic>
      <p:sp>
        <p:nvSpPr>
          <p:cNvPr id="31" name="Text 22"/>
          <p:cNvSpPr/>
          <p:nvPr/>
        </p:nvSpPr>
        <p:spPr>
          <a:xfrm>
            <a:off x="2944368" y="3474720"/>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Violation Detection (7 types)</a:t>
            </a:r>
            <a:endParaRPr lang="en-US" sz="1050" dirty="0"/>
          </a:p>
        </p:txBody>
      </p:sp>
      <p:sp>
        <p:nvSpPr>
          <p:cNvPr id="32" name="Shape 23"/>
          <p:cNvSpPr/>
          <p:nvPr/>
        </p:nvSpPr>
        <p:spPr>
          <a:xfrm>
            <a:off x="5120640" y="3090672"/>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33" name="Text 24"/>
          <p:cNvSpPr/>
          <p:nvPr/>
        </p:nvSpPr>
        <p:spPr>
          <a:xfrm>
            <a:off x="5230368" y="3163824"/>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8</a:t>
            </a:r>
            <a:endParaRPr lang="en-US" sz="1000" dirty="0"/>
          </a:p>
        </p:txBody>
      </p:sp>
      <p:pic>
        <p:nvPicPr>
          <p:cNvPr id="34" name="Image 7" descr="icons/brain_navy.png">    </p:cNvPr>
          <p:cNvPicPr>
            <a:picLocks noChangeAspect="1"/>
          </p:cNvPicPr>
          <p:nvPr/>
        </p:nvPicPr>
        <p:blipFill>
          <a:blip r:embed="rId8"/>
          <a:stretch>
            <a:fillRect/>
          </a:stretch>
        </p:blipFill>
        <p:spPr>
          <a:xfrm>
            <a:off x="6784848" y="3182112"/>
            <a:ext cx="274320" cy="274320"/>
          </a:xfrm>
          <a:prstGeom prst="rect">
            <a:avLst/>
          </a:prstGeom>
        </p:spPr>
      </p:pic>
      <p:sp>
        <p:nvSpPr>
          <p:cNvPr id="35" name="Text 25"/>
          <p:cNvSpPr/>
          <p:nvPr/>
        </p:nvSpPr>
        <p:spPr>
          <a:xfrm>
            <a:off x="5230368" y="3474720"/>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Reasoning Engine (Scene Graph)</a:t>
            </a:r>
            <a:endParaRPr lang="en-US" sz="1050" dirty="0"/>
          </a:p>
        </p:txBody>
      </p:sp>
      <p:sp>
        <p:nvSpPr>
          <p:cNvPr id="36" name="Shape 26"/>
          <p:cNvSpPr/>
          <p:nvPr/>
        </p:nvSpPr>
        <p:spPr>
          <a:xfrm>
            <a:off x="7406640" y="3090672"/>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37" name="Text 27"/>
          <p:cNvSpPr/>
          <p:nvPr/>
        </p:nvSpPr>
        <p:spPr>
          <a:xfrm>
            <a:off x="7516368" y="3163824"/>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9</a:t>
            </a:r>
            <a:endParaRPr lang="en-US" sz="1000" dirty="0"/>
          </a:p>
        </p:txBody>
      </p:sp>
      <p:pic>
        <p:nvPicPr>
          <p:cNvPr id="38" name="Image 8" descr="icons/idcard_navy.png">    </p:cNvPr>
          <p:cNvPicPr>
            <a:picLocks noChangeAspect="1"/>
          </p:cNvPicPr>
          <p:nvPr/>
        </p:nvPicPr>
        <p:blipFill>
          <a:blip r:embed="rId9"/>
          <a:stretch>
            <a:fillRect/>
          </a:stretch>
        </p:blipFill>
        <p:spPr>
          <a:xfrm>
            <a:off x="9070848" y="3182112"/>
            <a:ext cx="274320" cy="274320"/>
          </a:xfrm>
          <a:prstGeom prst="rect">
            <a:avLst/>
          </a:prstGeom>
        </p:spPr>
      </p:pic>
      <p:sp>
        <p:nvSpPr>
          <p:cNvPr id="39" name="Text 28"/>
          <p:cNvSpPr/>
          <p:nvPr/>
        </p:nvSpPr>
        <p:spPr>
          <a:xfrm>
            <a:off x="7516368" y="3474720"/>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License Plate Recognition</a:t>
            </a:r>
            <a:endParaRPr lang="en-US" sz="1050" dirty="0"/>
          </a:p>
        </p:txBody>
      </p:sp>
      <p:sp>
        <p:nvSpPr>
          <p:cNvPr id="40" name="Shape 29"/>
          <p:cNvSpPr/>
          <p:nvPr/>
        </p:nvSpPr>
        <p:spPr>
          <a:xfrm>
            <a:off x="9692640" y="3090672"/>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41" name="Text 30"/>
          <p:cNvSpPr/>
          <p:nvPr/>
        </p:nvSpPr>
        <p:spPr>
          <a:xfrm>
            <a:off x="9802368" y="3163824"/>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10</a:t>
            </a:r>
            <a:endParaRPr lang="en-US" sz="1000" dirty="0"/>
          </a:p>
        </p:txBody>
      </p:sp>
      <p:pic>
        <p:nvPicPr>
          <p:cNvPr id="42" name="Image 9" descr="icons/database_navy.png">    </p:cNvPr>
          <p:cNvPicPr>
            <a:picLocks noChangeAspect="1"/>
          </p:cNvPicPr>
          <p:nvPr/>
        </p:nvPicPr>
        <p:blipFill>
          <a:blip r:embed="rId10"/>
          <a:stretch>
            <a:fillRect/>
          </a:stretch>
        </p:blipFill>
        <p:spPr>
          <a:xfrm>
            <a:off x="11356848" y="3182112"/>
            <a:ext cx="274320" cy="274320"/>
          </a:xfrm>
          <a:prstGeom prst="rect">
            <a:avLst/>
          </a:prstGeom>
        </p:spPr>
      </p:pic>
      <p:sp>
        <p:nvSpPr>
          <p:cNvPr id="43" name="Text 31"/>
          <p:cNvSpPr/>
          <p:nvPr/>
        </p:nvSpPr>
        <p:spPr>
          <a:xfrm>
            <a:off x="9802368" y="3474720"/>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Vehicle Info Retrieval</a:t>
            </a:r>
            <a:endParaRPr lang="en-US" sz="1050" dirty="0"/>
          </a:p>
        </p:txBody>
      </p:sp>
      <p:sp>
        <p:nvSpPr>
          <p:cNvPr id="44" name="Shape 32"/>
          <p:cNvSpPr/>
          <p:nvPr/>
        </p:nvSpPr>
        <p:spPr>
          <a:xfrm>
            <a:off x="548640" y="4672584"/>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45" name="Text 33"/>
          <p:cNvSpPr/>
          <p:nvPr/>
        </p:nvSpPr>
        <p:spPr>
          <a:xfrm>
            <a:off x="658368" y="4745736"/>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11</a:t>
            </a:r>
            <a:endParaRPr lang="en-US" sz="1000" dirty="0"/>
          </a:p>
        </p:txBody>
      </p:sp>
      <p:pic>
        <p:nvPicPr>
          <p:cNvPr id="46" name="Image 10" descr="icons/ban_navy.png">    </p:cNvPr>
          <p:cNvPicPr>
            <a:picLocks noChangeAspect="1"/>
          </p:cNvPicPr>
          <p:nvPr/>
        </p:nvPicPr>
        <p:blipFill>
          <a:blip r:embed="rId11"/>
          <a:stretch>
            <a:fillRect/>
          </a:stretch>
        </p:blipFill>
        <p:spPr>
          <a:xfrm>
            <a:off x="2212848" y="4764024"/>
            <a:ext cx="274320" cy="274320"/>
          </a:xfrm>
          <a:prstGeom prst="rect">
            <a:avLst/>
          </a:prstGeom>
        </p:spPr>
      </p:pic>
      <p:sp>
        <p:nvSpPr>
          <p:cNvPr id="47" name="Text 34"/>
          <p:cNvSpPr/>
          <p:nvPr/>
        </p:nvSpPr>
        <p:spPr>
          <a:xfrm>
            <a:off x="658368" y="5056632"/>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Duplicate Suppression</a:t>
            </a:r>
            <a:endParaRPr lang="en-US" sz="1050" dirty="0"/>
          </a:p>
        </p:txBody>
      </p:sp>
      <p:sp>
        <p:nvSpPr>
          <p:cNvPr id="48" name="Shape 35"/>
          <p:cNvSpPr/>
          <p:nvPr/>
        </p:nvSpPr>
        <p:spPr>
          <a:xfrm>
            <a:off x="2834640" y="4672584"/>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49" name="Text 36"/>
          <p:cNvSpPr/>
          <p:nvPr/>
        </p:nvSpPr>
        <p:spPr>
          <a:xfrm>
            <a:off x="2944368" y="4745736"/>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12-13</a:t>
            </a:r>
            <a:endParaRPr lang="en-US" sz="1000" dirty="0"/>
          </a:p>
        </p:txBody>
      </p:sp>
      <p:pic>
        <p:nvPicPr>
          <p:cNvPr id="50" name="Image 11" descr="icons/file_navy.png">    </p:cNvPr>
          <p:cNvPicPr>
            <a:picLocks noChangeAspect="1"/>
          </p:cNvPicPr>
          <p:nvPr/>
        </p:nvPicPr>
        <p:blipFill>
          <a:blip r:embed="rId12"/>
          <a:stretch>
            <a:fillRect/>
          </a:stretch>
        </p:blipFill>
        <p:spPr>
          <a:xfrm>
            <a:off x="4498848" y="4764024"/>
            <a:ext cx="274320" cy="274320"/>
          </a:xfrm>
          <a:prstGeom prst="rect">
            <a:avLst/>
          </a:prstGeom>
        </p:spPr>
      </p:pic>
      <p:sp>
        <p:nvSpPr>
          <p:cNvPr id="51" name="Text 37"/>
          <p:cNvSpPr/>
          <p:nvPr/>
        </p:nvSpPr>
        <p:spPr>
          <a:xfrm>
            <a:off x="2944368" y="5056632"/>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Evidence + Metadata</a:t>
            </a:r>
            <a:endParaRPr lang="en-US" sz="1050" dirty="0"/>
          </a:p>
        </p:txBody>
      </p:sp>
      <p:sp>
        <p:nvSpPr>
          <p:cNvPr id="52" name="Shape 38"/>
          <p:cNvSpPr/>
          <p:nvPr/>
        </p:nvSpPr>
        <p:spPr>
          <a:xfrm>
            <a:off x="5120640" y="4672584"/>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53" name="Text 39"/>
          <p:cNvSpPr/>
          <p:nvPr/>
        </p:nvSpPr>
        <p:spPr>
          <a:xfrm>
            <a:off x="5230368" y="4745736"/>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14</a:t>
            </a:r>
            <a:endParaRPr lang="en-US" sz="1000" dirty="0"/>
          </a:p>
        </p:txBody>
      </p:sp>
      <p:pic>
        <p:nvPicPr>
          <p:cNvPr id="54" name="Image 12" descr="icons/chart_navy.png">    </p:cNvPr>
          <p:cNvPicPr>
            <a:picLocks noChangeAspect="1"/>
          </p:cNvPicPr>
          <p:nvPr/>
        </p:nvPicPr>
        <p:blipFill>
          <a:blip r:embed="rId13"/>
          <a:stretch>
            <a:fillRect/>
          </a:stretch>
        </p:blipFill>
        <p:spPr>
          <a:xfrm>
            <a:off x="6784848" y="4764024"/>
            <a:ext cx="274320" cy="274320"/>
          </a:xfrm>
          <a:prstGeom prst="rect">
            <a:avLst/>
          </a:prstGeom>
        </p:spPr>
      </p:pic>
      <p:sp>
        <p:nvSpPr>
          <p:cNvPr id="55" name="Text 40"/>
          <p:cNvSpPr/>
          <p:nvPr/>
        </p:nvSpPr>
        <p:spPr>
          <a:xfrm>
            <a:off x="5230368" y="5056632"/>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Analytics Dashboard</a:t>
            </a:r>
            <a:endParaRPr lang="en-US" sz="1050" dirty="0"/>
          </a:p>
        </p:txBody>
      </p:sp>
      <p:sp>
        <p:nvSpPr>
          <p:cNvPr id="56" name="Shape 41"/>
          <p:cNvSpPr/>
          <p:nvPr/>
        </p:nvSpPr>
        <p:spPr>
          <a:xfrm>
            <a:off x="7406640" y="4672584"/>
            <a:ext cx="2121408" cy="1417320"/>
          </a:xfrm>
          <a:prstGeom prst="roundRect">
            <a:avLst>
              <a:gd name="adj" fmla="val 3871"/>
            </a:avLst>
          </a:prstGeom>
          <a:solidFill>
            <a:srgbClr val="FFFFFF"/>
          </a:solidFill>
          <a:ln/>
          <a:effectLst>
            <a:outerShdw sx="100000" sy="100000" kx="0" ky="0" algn="bl" rotWithShape="0" blurRad="101600" dist="38100" dir="2700000">
              <a:srgbClr val="000000">
                <a:alpha val="12000"/>
              </a:srgbClr>
            </a:outerShdw>
          </a:effectLst>
        </p:spPr>
      </p:sp>
      <p:sp>
        <p:nvSpPr>
          <p:cNvPr id="57" name="Text 42"/>
          <p:cNvSpPr/>
          <p:nvPr/>
        </p:nvSpPr>
        <p:spPr>
          <a:xfrm>
            <a:off x="7516368" y="4745736"/>
            <a:ext cx="914400" cy="274320"/>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15</a:t>
            </a:r>
            <a:endParaRPr lang="en-US" sz="1000" dirty="0"/>
          </a:p>
        </p:txBody>
      </p:sp>
      <p:pic>
        <p:nvPicPr>
          <p:cNvPr id="58" name="Image 13" descr="icons/check_navy.png">    </p:cNvPr>
          <p:cNvPicPr>
            <a:picLocks noChangeAspect="1"/>
          </p:cNvPicPr>
          <p:nvPr/>
        </p:nvPicPr>
        <p:blipFill>
          <a:blip r:embed="rId14"/>
          <a:stretch>
            <a:fillRect/>
          </a:stretch>
        </p:blipFill>
        <p:spPr>
          <a:xfrm>
            <a:off x="9070848" y="4764024"/>
            <a:ext cx="274320" cy="274320"/>
          </a:xfrm>
          <a:prstGeom prst="rect">
            <a:avLst/>
          </a:prstGeom>
        </p:spPr>
      </p:pic>
      <p:sp>
        <p:nvSpPr>
          <p:cNvPr id="59" name="Text 43"/>
          <p:cNvSpPr/>
          <p:nvPr/>
        </p:nvSpPr>
        <p:spPr>
          <a:xfrm>
            <a:off x="7516368" y="5056632"/>
            <a:ext cx="1901952" cy="914400"/>
          </a:xfrm>
          <a:prstGeom prst="rect">
            <a:avLst/>
          </a:prstGeom>
          <a:noFill/>
          <a:ln/>
        </p:spPr>
        <p:txBody>
          <a:bodyPr wrap="square" lIns="0" tIns="0" rIns="0" bIns="0" rtlCol="0" anchor="t"/>
          <a:lstStyle/>
          <a:p>
            <a:pPr indent="0" marL="0">
              <a:lnSpc>
                <a:spcPct val="110000"/>
              </a:lnSpc>
              <a:buNone/>
            </a:pPr>
            <a:r>
              <a:rPr lang="en-US" sz="1050" b="1" dirty="0">
                <a:solidFill>
                  <a:srgbClr val="0B2545"/>
                </a:solidFill>
                <a:latin typeface="Calibri" pitchFamily="34" charset="0"/>
                <a:ea typeface="Calibri" pitchFamily="34" charset="-122"/>
                <a:cs typeface="Calibri" pitchFamily="34" charset="-120"/>
              </a:rPr>
              <a:t>Performance Evaluation</a:t>
            </a:r>
            <a:endParaRPr lang="en-US" sz="1050" dirty="0"/>
          </a:p>
        </p:txBody>
      </p:sp>
      <p:sp>
        <p:nvSpPr>
          <p:cNvPr id="60" name="Text 4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61" name="Text 4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11480"/>
            <a:ext cx="105156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System Architecture — One-View Summary</a:t>
            </a:r>
            <a:endParaRPr lang="en-US" sz="2800" dirty="0"/>
          </a:p>
        </p:txBody>
      </p:sp>
      <p:sp>
        <p:nvSpPr>
          <p:cNvPr id="3" name="Text 1"/>
          <p:cNvSpPr/>
          <p:nvPr/>
        </p:nvSpPr>
        <p:spPr>
          <a:xfrm>
            <a:off x="548640" y="932688"/>
            <a:ext cx="10058400" cy="36576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The same 15-stage pipeline, shown end to end as a single connected flow.</a:t>
            </a:r>
            <a:endParaRPr lang="en-US" sz="1300" dirty="0"/>
          </a:p>
        </p:txBody>
      </p:sp>
      <p:sp>
        <p:nvSpPr>
          <p:cNvPr id="4" name="Shape 2"/>
          <p:cNvSpPr/>
          <p:nvPr/>
        </p:nvSpPr>
        <p:spPr>
          <a:xfrm>
            <a:off x="438912" y="1307592"/>
            <a:ext cx="11283696" cy="5254710"/>
          </a:xfrm>
          <a:prstGeom prst="roundRect">
            <a:avLst>
              <a:gd name="adj" fmla="val 1044"/>
            </a:avLst>
          </a:prstGeom>
          <a:solidFill>
            <a:srgbClr val="FFFFFF"/>
          </a:solidFill>
          <a:ln/>
          <a:effectLst>
            <a:outerShdw sx="100000" sy="100000" kx="0" ky="0" algn="bl" rotWithShape="0" blurRad="101600" dist="38100" dir="2700000">
              <a:srgbClr val="000000">
                <a:alpha val="12000"/>
              </a:srgbClr>
            </a:outerShdw>
          </a:effectLst>
        </p:spPr>
      </p:sp>
      <p:pic>
        <p:nvPicPr>
          <p:cNvPr id="5" name="Image 0" descr="architecture_diagram.png">    </p:cNvPr>
          <p:cNvPicPr>
            <a:picLocks noChangeAspect="1"/>
          </p:cNvPicPr>
          <p:nvPr/>
        </p:nvPicPr>
        <p:blipFill>
          <a:blip r:embed="rId1"/>
          <a:stretch>
            <a:fillRect/>
          </a:stretch>
        </p:blipFill>
        <p:spPr>
          <a:xfrm>
            <a:off x="548640" y="1417320"/>
            <a:ext cx="11064240" cy="5035254"/>
          </a:xfrm>
          <a:prstGeom prst="rect">
            <a:avLst/>
          </a:prstGeom>
        </p:spPr>
      </p:pic>
      <p:sp>
        <p:nvSpPr>
          <p:cNvPr id="6" name="Text 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7" name="Text 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Stage 1–2 · Adaptive Image Preprocessing</a:t>
            </a:r>
            <a:endParaRPr lang="en-US" sz="2800" dirty="0"/>
          </a:p>
        </p:txBody>
      </p:sp>
      <p:sp>
        <p:nvSpPr>
          <p:cNvPr id="3" name="Text 1"/>
          <p:cNvSpPr/>
          <p:nvPr/>
        </p:nvSpPr>
        <p:spPr>
          <a:xfrm>
            <a:off x="548640" y="1005840"/>
            <a:ext cx="10515600" cy="411480"/>
          </a:xfrm>
          <a:prstGeom prst="rect">
            <a:avLst/>
          </a:prstGeom>
          <a:noFill/>
          <a:ln/>
        </p:spPr>
        <p:txBody>
          <a:bodyPr wrap="square" lIns="0" tIns="0" rIns="0" bIns="0" rtlCol="0" anchor="ctr"/>
          <a:lstStyle/>
          <a:p>
            <a:pPr indent="0" marL="0">
              <a:buNone/>
            </a:pPr>
            <a:r>
              <a:rPr lang="en-US" sz="1350" dirty="0">
                <a:solidFill>
                  <a:srgbClr val="5B6B85"/>
                </a:solidFill>
                <a:latin typeface="Calibri" pitchFamily="34" charset="0"/>
                <a:ea typeface="Calibri" pitchFamily="34" charset="-122"/>
                <a:cs typeface="Calibri" pitchFamily="34" charset="-120"/>
              </a:rPr>
              <a:t>Every enhancement is applied only when the image actually needs it — protecting downstream detector accuracy.</a:t>
            </a:r>
            <a:endParaRPr lang="en-US" sz="1350" dirty="0"/>
          </a:p>
        </p:txBody>
      </p:sp>
      <p:sp>
        <p:nvSpPr>
          <p:cNvPr id="4" name="Shape 2"/>
          <p:cNvSpPr/>
          <p:nvPr/>
        </p:nvSpPr>
        <p:spPr>
          <a:xfrm>
            <a:off x="548640" y="1691640"/>
            <a:ext cx="5212080" cy="4114800"/>
          </a:xfrm>
          <a:prstGeom prst="roundRect">
            <a:avLst>
              <a:gd name="adj" fmla="val 1778"/>
            </a:avLst>
          </a:prstGeom>
          <a:solidFill>
            <a:srgbClr val="F7F9FC"/>
          </a:solidFill>
          <a:ln/>
          <a:effectLst>
            <a:outerShdw sx="100000" sy="100000" kx="0" ky="0" algn="bl" rotWithShape="0" blurRad="101600" dist="38100" dir="2700000">
              <a:srgbClr val="000000">
                <a:alpha val="12000"/>
              </a:srgbClr>
            </a:outerShdw>
          </a:effectLst>
        </p:spPr>
      </p:sp>
      <p:sp>
        <p:nvSpPr>
          <p:cNvPr id="5" name="Shape 3"/>
          <p:cNvSpPr/>
          <p:nvPr/>
        </p:nvSpPr>
        <p:spPr>
          <a:xfrm>
            <a:off x="914400" y="1965960"/>
            <a:ext cx="457200" cy="457200"/>
          </a:xfrm>
          <a:prstGeom prst="ellipse">
            <a:avLst/>
          </a:prstGeom>
          <a:solidFill>
            <a:srgbClr val="0B2545"/>
          </a:solidFill>
          <a:ln/>
        </p:spPr>
      </p:sp>
      <p:pic>
        <p:nvPicPr>
          <p:cNvPr id="6" name="Image 0" descr="icons/eye_white.png">    </p:cNvPr>
          <p:cNvPicPr>
            <a:picLocks noChangeAspect="1"/>
          </p:cNvPicPr>
          <p:nvPr/>
        </p:nvPicPr>
        <p:blipFill>
          <a:blip r:embed="rId1"/>
          <a:stretch>
            <a:fillRect/>
          </a:stretch>
        </p:blipFill>
        <p:spPr>
          <a:xfrm>
            <a:off x="1017270" y="2068830"/>
            <a:ext cx="251460" cy="251460"/>
          </a:xfrm>
          <a:prstGeom prst="rect">
            <a:avLst/>
          </a:prstGeom>
        </p:spPr>
      </p:pic>
      <p:sp>
        <p:nvSpPr>
          <p:cNvPr id="7" name="Text 4"/>
          <p:cNvSpPr/>
          <p:nvPr/>
        </p:nvSpPr>
        <p:spPr>
          <a:xfrm>
            <a:off x="1508760" y="1965960"/>
            <a:ext cx="3657600" cy="4572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Assess</a:t>
            </a:r>
            <a:endParaRPr lang="en-US" sz="1600" dirty="0"/>
          </a:p>
        </p:txBody>
      </p:sp>
      <p:sp>
        <p:nvSpPr>
          <p:cNvPr id="8" name="Text 5"/>
          <p:cNvSpPr/>
          <p:nvPr/>
        </p:nvSpPr>
        <p:spPr>
          <a:xfrm>
            <a:off x="914400" y="2697480"/>
            <a:ext cx="4572000" cy="457200"/>
          </a:xfrm>
          <a:prstGeom prst="rect">
            <a:avLst/>
          </a:prstGeom>
          <a:noFill/>
          <a:ln/>
        </p:spPr>
        <p:txBody>
          <a:bodyPr wrap="square" lIns="0" tIns="0" rIns="0" bIns="0" rtlCol="0" anchor="ctr"/>
          <a:lstStyle/>
          <a:p>
            <a:pPr marL="342900" indent="-342900">
              <a:buSzPct val="100000"/>
              <a:buChar char="✓"/>
            </a:pPr>
            <a:r>
              <a:rPr lang="en-US" sz="1350" dirty="0">
                <a:solidFill>
                  <a:srgbClr val="0B2545"/>
                </a:solidFill>
                <a:latin typeface="Calibri" pitchFamily="34" charset="0"/>
                <a:ea typeface="Calibri" pitchFamily="34" charset="-122"/>
                <a:cs typeface="Calibri" pitchFamily="34" charset="-120"/>
              </a:rPr>
              <a:t>Blur (Laplacian variance)</a:t>
            </a:r>
            <a:endParaRPr lang="en-US" sz="1350" dirty="0"/>
          </a:p>
        </p:txBody>
      </p:sp>
      <p:sp>
        <p:nvSpPr>
          <p:cNvPr id="9" name="Text 6"/>
          <p:cNvSpPr/>
          <p:nvPr/>
        </p:nvSpPr>
        <p:spPr>
          <a:xfrm>
            <a:off x="914400" y="3291840"/>
            <a:ext cx="4572000" cy="457200"/>
          </a:xfrm>
          <a:prstGeom prst="rect">
            <a:avLst/>
          </a:prstGeom>
          <a:noFill/>
          <a:ln/>
        </p:spPr>
        <p:txBody>
          <a:bodyPr wrap="square" lIns="0" tIns="0" rIns="0" bIns="0" rtlCol="0" anchor="ctr"/>
          <a:lstStyle/>
          <a:p>
            <a:pPr marL="342900" indent="-342900">
              <a:buSzPct val="100000"/>
              <a:buChar char="✓"/>
            </a:pPr>
            <a:r>
              <a:rPr lang="en-US" sz="1350" dirty="0">
                <a:solidFill>
                  <a:srgbClr val="0B2545"/>
                </a:solidFill>
                <a:latin typeface="Calibri" pitchFamily="34" charset="0"/>
                <a:ea typeface="Calibri" pitchFamily="34" charset="-122"/>
                <a:cs typeface="Calibri" pitchFamily="34" charset="-120"/>
              </a:rPr>
              <a:t>Brightness level</a:t>
            </a:r>
            <a:endParaRPr lang="en-US" sz="1350" dirty="0"/>
          </a:p>
        </p:txBody>
      </p:sp>
      <p:sp>
        <p:nvSpPr>
          <p:cNvPr id="10" name="Text 7"/>
          <p:cNvSpPr/>
          <p:nvPr/>
        </p:nvSpPr>
        <p:spPr>
          <a:xfrm>
            <a:off x="914400" y="3886200"/>
            <a:ext cx="4572000" cy="457200"/>
          </a:xfrm>
          <a:prstGeom prst="rect">
            <a:avLst/>
          </a:prstGeom>
          <a:noFill/>
          <a:ln/>
        </p:spPr>
        <p:txBody>
          <a:bodyPr wrap="square" lIns="0" tIns="0" rIns="0" bIns="0" rtlCol="0" anchor="ctr"/>
          <a:lstStyle/>
          <a:p>
            <a:pPr marL="342900" indent="-342900">
              <a:buSzPct val="100000"/>
              <a:buChar char="✓"/>
            </a:pPr>
            <a:r>
              <a:rPr lang="en-US" sz="1350" dirty="0">
                <a:solidFill>
                  <a:srgbClr val="0B2545"/>
                </a:solidFill>
                <a:latin typeface="Calibri" pitchFamily="34" charset="0"/>
                <a:ea typeface="Calibri" pitchFamily="34" charset="-122"/>
                <a:cs typeface="Calibri" pitchFamily="34" charset="-120"/>
              </a:rPr>
              <a:t>Noise estimation</a:t>
            </a:r>
            <a:endParaRPr lang="en-US" sz="1350" dirty="0"/>
          </a:p>
        </p:txBody>
      </p:sp>
      <p:sp>
        <p:nvSpPr>
          <p:cNvPr id="11" name="Text 8"/>
          <p:cNvSpPr/>
          <p:nvPr/>
        </p:nvSpPr>
        <p:spPr>
          <a:xfrm>
            <a:off x="914400" y="4480560"/>
            <a:ext cx="4572000" cy="457200"/>
          </a:xfrm>
          <a:prstGeom prst="rect">
            <a:avLst/>
          </a:prstGeom>
          <a:noFill/>
          <a:ln/>
        </p:spPr>
        <p:txBody>
          <a:bodyPr wrap="square" lIns="0" tIns="0" rIns="0" bIns="0" rtlCol="0" anchor="ctr"/>
          <a:lstStyle/>
          <a:p>
            <a:pPr marL="342900" indent="-342900">
              <a:buSzPct val="100000"/>
              <a:buChar char="✓"/>
            </a:pPr>
            <a:r>
              <a:rPr lang="en-US" sz="1350" dirty="0">
                <a:solidFill>
                  <a:srgbClr val="0B2545"/>
                </a:solidFill>
                <a:latin typeface="Calibri" pitchFamily="34" charset="0"/>
                <a:ea typeface="Calibri" pitchFamily="34" charset="-122"/>
                <a:cs typeface="Calibri" pitchFamily="34" charset="-120"/>
              </a:rPr>
              <a:t>Contrast assessment</a:t>
            </a:r>
            <a:endParaRPr lang="en-US" sz="1350" dirty="0"/>
          </a:p>
        </p:txBody>
      </p:sp>
      <p:sp>
        <p:nvSpPr>
          <p:cNvPr id="12" name="Shape 9"/>
          <p:cNvSpPr/>
          <p:nvPr/>
        </p:nvSpPr>
        <p:spPr>
          <a:xfrm>
            <a:off x="6035040" y="1691640"/>
            <a:ext cx="5577840" cy="4114800"/>
          </a:xfrm>
          <a:prstGeom prst="roundRect">
            <a:avLst>
              <a:gd name="adj" fmla="val 1778"/>
            </a:avLst>
          </a:prstGeom>
          <a:solidFill>
            <a:srgbClr val="0B2545"/>
          </a:solidFill>
          <a:ln/>
          <a:effectLst>
            <a:outerShdw sx="100000" sy="100000" kx="0" ky="0" algn="bl" rotWithShape="0" blurRad="101600" dist="38100" dir="2700000">
              <a:srgbClr val="000000">
                <a:alpha val="12000"/>
              </a:srgbClr>
            </a:outerShdw>
          </a:effectLst>
        </p:spPr>
      </p:sp>
      <p:sp>
        <p:nvSpPr>
          <p:cNvPr id="13" name="Shape 10"/>
          <p:cNvSpPr/>
          <p:nvPr/>
        </p:nvSpPr>
        <p:spPr>
          <a:xfrm>
            <a:off x="6400800" y="1965960"/>
            <a:ext cx="457200" cy="457200"/>
          </a:xfrm>
          <a:prstGeom prst="ellipse">
            <a:avLst/>
          </a:prstGeom>
          <a:solidFill>
            <a:srgbClr val="FFB703"/>
          </a:solidFill>
          <a:ln/>
        </p:spPr>
      </p:sp>
      <p:pic>
        <p:nvPicPr>
          <p:cNvPr id="14" name="Image 1" descr="icons/cogs_navy.png">    </p:cNvPr>
          <p:cNvPicPr>
            <a:picLocks noChangeAspect="1"/>
          </p:cNvPicPr>
          <p:nvPr/>
        </p:nvPicPr>
        <p:blipFill>
          <a:blip r:embed="rId2"/>
          <a:stretch>
            <a:fillRect/>
          </a:stretch>
        </p:blipFill>
        <p:spPr>
          <a:xfrm>
            <a:off x="6503670" y="2068830"/>
            <a:ext cx="251460" cy="251460"/>
          </a:xfrm>
          <a:prstGeom prst="rect">
            <a:avLst/>
          </a:prstGeom>
        </p:spPr>
      </p:pic>
      <p:sp>
        <p:nvSpPr>
          <p:cNvPr id="15" name="Text 11"/>
          <p:cNvSpPr/>
          <p:nvPr/>
        </p:nvSpPr>
        <p:spPr>
          <a:xfrm>
            <a:off x="6995160" y="1965960"/>
            <a:ext cx="438912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Correct (conditionally)</a:t>
            </a:r>
            <a:endParaRPr lang="en-US" sz="1600" dirty="0"/>
          </a:p>
        </p:txBody>
      </p:sp>
      <p:sp>
        <p:nvSpPr>
          <p:cNvPr id="16" name="Text 12"/>
          <p:cNvSpPr/>
          <p:nvPr/>
        </p:nvSpPr>
        <p:spPr>
          <a:xfrm>
            <a:off x="6400800" y="2697480"/>
            <a:ext cx="5029200" cy="457200"/>
          </a:xfrm>
          <a:prstGeom prst="rect">
            <a:avLst/>
          </a:prstGeom>
          <a:noFill/>
          <a:ln/>
        </p:spPr>
        <p:txBody>
          <a:bodyPr wrap="square" lIns="0" tIns="0" rIns="0" bIns="0" rtlCol="0" anchor="ctr"/>
          <a:lstStyle/>
          <a:p>
            <a:pPr marL="342900" indent="-342900">
              <a:buSzPct val="100000"/>
              <a:buChar char="✓"/>
            </a:pPr>
            <a:r>
              <a:rPr lang="en-US" sz="1350" dirty="0">
                <a:solidFill>
                  <a:srgbClr val="FFB703"/>
                </a:solidFill>
                <a:latin typeface="Calibri" pitchFamily="34" charset="0"/>
                <a:ea typeface="Calibri" pitchFamily="34" charset="-122"/>
                <a:cs typeface="Calibri" pitchFamily="34" charset="-120"/>
              </a:rPr>
              <a:t>CLAHE — only if low contrast</a:t>
            </a:r>
            <a:endParaRPr lang="en-US" sz="1350" dirty="0"/>
          </a:p>
        </p:txBody>
      </p:sp>
      <p:sp>
        <p:nvSpPr>
          <p:cNvPr id="17" name="Text 13"/>
          <p:cNvSpPr/>
          <p:nvPr/>
        </p:nvSpPr>
        <p:spPr>
          <a:xfrm>
            <a:off x="6400800" y="3291840"/>
            <a:ext cx="5029200" cy="457200"/>
          </a:xfrm>
          <a:prstGeom prst="rect">
            <a:avLst/>
          </a:prstGeom>
          <a:noFill/>
          <a:ln/>
        </p:spPr>
        <p:txBody>
          <a:bodyPr wrap="square" lIns="0" tIns="0" rIns="0" bIns="0" rtlCol="0" anchor="ctr"/>
          <a:lstStyle/>
          <a:p>
            <a:pPr marL="342900" indent="-342900">
              <a:buSzPct val="100000"/>
              <a:buChar char="✓"/>
            </a:pPr>
            <a:r>
              <a:rPr lang="en-US" sz="1350" dirty="0">
                <a:solidFill>
                  <a:srgbClr val="FFB703"/>
                </a:solidFill>
                <a:latin typeface="Calibri" pitchFamily="34" charset="0"/>
                <a:ea typeface="Calibri" pitchFamily="34" charset="-122"/>
                <a:cs typeface="Calibri" pitchFamily="34" charset="-120"/>
              </a:rPr>
              <a:t>Denoising — only if excessive noise</a:t>
            </a:r>
            <a:endParaRPr lang="en-US" sz="1350" dirty="0"/>
          </a:p>
        </p:txBody>
      </p:sp>
      <p:sp>
        <p:nvSpPr>
          <p:cNvPr id="18" name="Text 14"/>
          <p:cNvSpPr/>
          <p:nvPr/>
        </p:nvSpPr>
        <p:spPr>
          <a:xfrm>
            <a:off x="6400800" y="3886200"/>
            <a:ext cx="5029200" cy="457200"/>
          </a:xfrm>
          <a:prstGeom prst="rect">
            <a:avLst/>
          </a:prstGeom>
          <a:noFill/>
          <a:ln/>
        </p:spPr>
        <p:txBody>
          <a:bodyPr wrap="square" lIns="0" tIns="0" rIns="0" bIns="0" rtlCol="0" anchor="ctr"/>
          <a:lstStyle/>
          <a:p>
            <a:pPr marL="342900" indent="-342900">
              <a:buSzPct val="100000"/>
              <a:buChar char="✓"/>
            </a:pPr>
            <a:r>
              <a:rPr lang="en-US" sz="1350" dirty="0">
                <a:solidFill>
                  <a:srgbClr val="FFB703"/>
                </a:solidFill>
                <a:latin typeface="Calibri" pitchFamily="34" charset="0"/>
                <a:ea typeface="Calibri" pitchFamily="34" charset="-122"/>
                <a:cs typeface="Calibri" pitchFamily="34" charset="-120"/>
              </a:rPr>
              <a:t>Gamma correction — for low light</a:t>
            </a:r>
            <a:endParaRPr lang="en-US" sz="1350" dirty="0"/>
          </a:p>
        </p:txBody>
      </p:sp>
      <p:sp>
        <p:nvSpPr>
          <p:cNvPr id="19" name="Text 15"/>
          <p:cNvSpPr/>
          <p:nvPr/>
        </p:nvSpPr>
        <p:spPr>
          <a:xfrm>
            <a:off x="6400800" y="4480560"/>
            <a:ext cx="5029200" cy="457200"/>
          </a:xfrm>
          <a:prstGeom prst="rect">
            <a:avLst/>
          </a:prstGeom>
          <a:noFill/>
          <a:ln/>
        </p:spPr>
        <p:txBody>
          <a:bodyPr wrap="square" lIns="0" tIns="0" rIns="0" bIns="0" rtlCol="0" anchor="ctr"/>
          <a:lstStyle/>
          <a:p>
            <a:pPr marL="342900" indent="-342900">
              <a:buSzPct val="100000"/>
              <a:buChar char="✓"/>
            </a:pPr>
            <a:r>
              <a:rPr lang="en-US" sz="1350" dirty="0">
                <a:solidFill>
                  <a:srgbClr val="FFB703"/>
                </a:solidFill>
                <a:latin typeface="Calibri" pitchFamily="34" charset="0"/>
                <a:ea typeface="Calibri" pitchFamily="34" charset="-122"/>
                <a:cs typeface="Calibri" pitchFamily="34" charset="-120"/>
              </a:rPr>
              <a:t>Resize, RGB convert, normalize</a:t>
            </a:r>
            <a:endParaRPr lang="en-US" sz="1350" dirty="0"/>
          </a:p>
        </p:txBody>
      </p:sp>
      <p:sp>
        <p:nvSpPr>
          <p:cNvPr id="20" name="Shape 16"/>
          <p:cNvSpPr/>
          <p:nvPr/>
        </p:nvSpPr>
        <p:spPr>
          <a:xfrm>
            <a:off x="548640" y="5989320"/>
            <a:ext cx="11064240" cy="91"/>
          </a:xfrm>
          <a:prstGeom prst="roundRect">
            <a:avLst/>
          </a:prstGeom>
          <a:solidFill>
            <a:srgbClr val="FFFFFF"/>
          </a:solidFill>
          <a:ln/>
        </p:spPr>
      </p:sp>
      <p:sp>
        <p:nvSpPr>
          <p:cNvPr id="21" name="Text 17"/>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B6B85"/>
                </a:solidFill>
                <a:latin typeface="Calibri" pitchFamily="34" charset="0"/>
                <a:ea typeface="Calibri" pitchFamily="34" charset="-122"/>
                <a:cs typeface="Calibri" pitchFamily="34" charset="-120"/>
              </a:rPr>
              <a:t>Why adaptive? Applying every enhancement to every frame indiscriminately can blur fine detail and degrade detector performance — selective correction preserves accuracy where image quality is already sufficient.</a:t>
            </a:r>
            <a:endParaRPr lang="en-US" sz="1150" dirty="0"/>
          </a:p>
        </p:txBody>
      </p:sp>
      <p:sp>
        <p:nvSpPr>
          <p:cNvPr id="22"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23" name="Text 1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100584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Stage 3–6 · Detection, Tracking &amp; Association</a:t>
            </a:r>
            <a:endParaRPr lang="en-US" sz="2800" dirty="0"/>
          </a:p>
        </p:txBody>
      </p:sp>
      <p:sp>
        <p:nvSpPr>
          <p:cNvPr id="3" name="Shape 1"/>
          <p:cNvSpPr/>
          <p:nvPr/>
        </p:nvSpPr>
        <p:spPr>
          <a:xfrm>
            <a:off x="548640" y="123444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4" name="Shape 2"/>
          <p:cNvSpPr/>
          <p:nvPr/>
        </p:nvSpPr>
        <p:spPr>
          <a:xfrm>
            <a:off x="800100" y="1485900"/>
            <a:ext cx="502920" cy="502920"/>
          </a:xfrm>
          <a:prstGeom prst="ellipse">
            <a:avLst/>
          </a:prstGeom>
          <a:solidFill>
            <a:srgbClr val="0B2545"/>
          </a:solidFill>
          <a:ln/>
        </p:spPr>
      </p:sp>
      <p:pic>
        <p:nvPicPr>
          <p:cNvPr id="5" name="Image 0" descr="icons/car_white.png">    </p:cNvPr>
          <p:cNvPicPr>
            <a:picLocks noChangeAspect="1"/>
          </p:cNvPicPr>
          <p:nvPr/>
        </p:nvPicPr>
        <p:blipFill>
          <a:blip r:embed="rId1"/>
          <a:stretch>
            <a:fillRect/>
          </a:stretch>
        </p:blipFill>
        <p:spPr>
          <a:xfrm>
            <a:off x="913257" y="1599057"/>
            <a:ext cx="276606" cy="276606"/>
          </a:xfrm>
          <a:prstGeom prst="rect">
            <a:avLst/>
          </a:prstGeom>
        </p:spPr>
      </p:pic>
      <p:sp>
        <p:nvSpPr>
          <p:cNvPr id="6" name="Text 3"/>
          <p:cNvSpPr/>
          <p:nvPr/>
        </p:nvSpPr>
        <p:spPr>
          <a:xfrm>
            <a:off x="1463040" y="146304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Vehicle &amp; Road-User Detection</a:t>
            </a:r>
            <a:endParaRPr lang="en-US" sz="1450" dirty="0"/>
          </a:p>
        </p:txBody>
      </p:sp>
      <p:sp>
        <p:nvSpPr>
          <p:cNvPr id="7" name="Text 4"/>
          <p:cNvSpPr/>
          <p:nvPr/>
        </p:nvSpPr>
        <p:spPr>
          <a:xfrm>
            <a:off x="868680" y="2148840"/>
            <a:ext cx="4709160" cy="1097280"/>
          </a:xfrm>
          <a:prstGeom prst="rect">
            <a:avLst/>
          </a:prstGeom>
          <a:noFill/>
          <a:ln/>
        </p:spPr>
        <p:txBody>
          <a:bodyPr wrap="square" lIns="0" tIns="0" rIns="0" bIns="0" rtlCol="0" anchor="ctr"/>
          <a:lstStyle/>
          <a:p>
            <a:pPr indent="0" marL="0">
              <a:lnSpc>
                <a:spcPct val="125000"/>
              </a:lnSpc>
              <a:buNone/>
            </a:pPr>
            <a:r>
              <a:rPr lang="en-US" sz="1150" dirty="0">
                <a:solidFill>
                  <a:srgbClr val="5B6B85"/>
                </a:solidFill>
                <a:latin typeface="Calibri" pitchFamily="34" charset="0"/>
                <a:ea typeface="Calibri" pitchFamily="34" charset="-122"/>
                <a:cs typeface="Calibri" pitchFamily="34" charset="-120"/>
              </a:rPr>
              <a:t>YOLO detects 9 classes: car, bus, truck, motorcycle, bicycle, auto-rickshaw, person, traffic light, license plate — with bounding box + confidence.</a:t>
            </a:r>
            <a:endParaRPr lang="en-US" sz="1150" dirty="0"/>
          </a:p>
        </p:txBody>
      </p:sp>
      <p:sp>
        <p:nvSpPr>
          <p:cNvPr id="8" name="Shape 5"/>
          <p:cNvSpPr/>
          <p:nvPr/>
        </p:nvSpPr>
        <p:spPr>
          <a:xfrm>
            <a:off x="6263640" y="123444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9" name="Shape 6"/>
          <p:cNvSpPr/>
          <p:nvPr/>
        </p:nvSpPr>
        <p:spPr>
          <a:xfrm>
            <a:off x="6515100" y="1485900"/>
            <a:ext cx="502920" cy="502920"/>
          </a:xfrm>
          <a:prstGeom prst="ellipse">
            <a:avLst/>
          </a:prstGeom>
          <a:solidFill>
            <a:srgbClr val="0B2545"/>
          </a:solidFill>
          <a:ln/>
        </p:spPr>
      </p:sp>
      <p:pic>
        <p:nvPicPr>
          <p:cNvPr id="10" name="Image 1" descr="icons/road_white.png">    </p:cNvPr>
          <p:cNvPicPr>
            <a:picLocks noChangeAspect="1"/>
          </p:cNvPicPr>
          <p:nvPr/>
        </p:nvPicPr>
        <p:blipFill>
          <a:blip r:embed="rId2"/>
          <a:stretch>
            <a:fillRect/>
          </a:stretch>
        </p:blipFill>
        <p:spPr>
          <a:xfrm>
            <a:off x="6628257" y="1599057"/>
            <a:ext cx="276606" cy="276606"/>
          </a:xfrm>
          <a:prstGeom prst="rect">
            <a:avLst/>
          </a:prstGeom>
        </p:spPr>
      </p:pic>
      <p:sp>
        <p:nvSpPr>
          <p:cNvPr id="11" name="Text 7"/>
          <p:cNvSpPr/>
          <p:nvPr/>
        </p:nvSpPr>
        <p:spPr>
          <a:xfrm>
            <a:off x="7178040" y="146304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Road Infrastructure Detection</a:t>
            </a:r>
            <a:endParaRPr lang="en-US" sz="1450" dirty="0"/>
          </a:p>
        </p:txBody>
      </p:sp>
      <p:sp>
        <p:nvSpPr>
          <p:cNvPr id="12" name="Text 8"/>
          <p:cNvSpPr/>
          <p:nvPr/>
        </p:nvSpPr>
        <p:spPr>
          <a:xfrm>
            <a:off x="6583680" y="2148840"/>
            <a:ext cx="4709160" cy="1097280"/>
          </a:xfrm>
          <a:prstGeom prst="rect">
            <a:avLst/>
          </a:prstGeom>
          <a:noFill/>
          <a:ln/>
        </p:spPr>
        <p:txBody>
          <a:bodyPr wrap="square" lIns="0" tIns="0" rIns="0" bIns="0" rtlCol="0" anchor="ctr"/>
          <a:lstStyle/>
          <a:p>
            <a:pPr indent="0" marL="0">
              <a:lnSpc>
                <a:spcPct val="125000"/>
              </a:lnSpc>
              <a:buNone/>
            </a:pPr>
            <a:r>
              <a:rPr lang="en-US" sz="1150" dirty="0">
                <a:solidFill>
                  <a:srgbClr val="5B6B85"/>
                </a:solidFill>
                <a:latin typeface="Calibri" pitchFamily="34" charset="0"/>
                <a:ea typeface="Calibri" pitchFamily="34" charset="-122"/>
                <a:cs typeface="Calibri" pitchFamily="34" charset="-120"/>
              </a:rPr>
              <a:t>Lane markings, stop lines, pedestrian crossings, parking/no-parking zones, and traffic signs.</a:t>
            </a:r>
            <a:endParaRPr lang="en-US" sz="1150" dirty="0"/>
          </a:p>
        </p:txBody>
      </p:sp>
      <p:sp>
        <p:nvSpPr>
          <p:cNvPr id="13" name="Shape 9"/>
          <p:cNvSpPr/>
          <p:nvPr/>
        </p:nvSpPr>
        <p:spPr>
          <a:xfrm>
            <a:off x="548640" y="370332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14" name="Shape 10"/>
          <p:cNvSpPr/>
          <p:nvPr/>
        </p:nvSpPr>
        <p:spPr>
          <a:xfrm>
            <a:off x="800100" y="3954780"/>
            <a:ext cx="502920" cy="502920"/>
          </a:xfrm>
          <a:prstGeom prst="ellipse">
            <a:avLst/>
          </a:prstGeom>
          <a:solidFill>
            <a:srgbClr val="0B2545"/>
          </a:solidFill>
          <a:ln/>
        </p:spPr>
      </p:sp>
      <p:pic>
        <p:nvPicPr>
          <p:cNvPr id="15" name="Image 2" descr="icons/layers_white.png">    </p:cNvPr>
          <p:cNvPicPr>
            <a:picLocks noChangeAspect="1"/>
          </p:cNvPicPr>
          <p:nvPr/>
        </p:nvPicPr>
        <p:blipFill>
          <a:blip r:embed="rId3"/>
          <a:stretch>
            <a:fillRect/>
          </a:stretch>
        </p:blipFill>
        <p:spPr>
          <a:xfrm>
            <a:off x="913257" y="4067937"/>
            <a:ext cx="276606" cy="276606"/>
          </a:xfrm>
          <a:prstGeom prst="rect">
            <a:avLst/>
          </a:prstGeom>
        </p:spPr>
      </p:pic>
      <p:sp>
        <p:nvSpPr>
          <p:cNvPr id="16" name="Text 11"/>
          <p:cNvSpPr/>
          <p:nvPr/>
        </p:nvSpPr>
        <p:spPr>
          <a:xfrm>
            <a:off x="1463040" y="393192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Multi-Object Tracking</a:t>
            </a:r>
            <a:endParaRPr lang="en-US" sz="1450" dirty="0"/>
          </a:p>
        </p:txBody>
      </p:sp>
      <p:sp>
        <p:nvSpPr>
          <p:cNvPr id="17" name="Text 12"/>
          <p:cNvSpPr/>
          <p:nvPr/>
        </p:nvSpPr>
        <p:spPr>
          <a:xfrm>
            <a:off x="868680" y="4617720"/>
            <a:ext cx="4709160" cy="1097280"/>
          </a:xfrm>
          <a:prstGeom prst="rect">
            <a:avLst/>
          </a:prstGeom>
          <a:noFill/>
          <a:ln/>
        </p:spPr>
        <p:txBody>
          <a:bodyPr wrap="square" lIns="0" tIns="0" rIns="0" bIns="0" rtlCol="0" anchor="ctr"/>
          <a:lstStyle/>
          <a:p>
            <a:pPr indent="0" marL="0">
              <a:lnSpc>
                <a:spcPct val="125000"/>
              </a:lnSpc>
              <a:buNone/>
            </a:pPr>
            <a:r>
              <a:rPr lang="en-US" sz="1150" dirty="0">
                <a:solidFill>
                  <a:srgbClr val="5B6B85"/>
                </a:solidFill>
                <a:latin typeface="Calibri" pitchFamily="34" charset="0"/>
                <a:ea typeface="Calibri" pitchFamily="34" charset="-122"/>
                <a:cs typeface="Calibri" pitchFamily="34" charset="-120"/>
              </a:rPr>
              <a:t>ByteTrack / DeepSORT assigns persistent IDs and maintains trajectories — enabling temporal reasoning across frames.</a:t>
            </a:r>
            <a:endParaRPr lang="en-US" sz="1150" dirty="0"/>
          </a:p>
        </p:txBody>
      </p:sp>
      <p:sp>
        <p:nvSpPr>
          <p:cNvPr id="18" name="Shape 13"/>
          <p:cNvSpPr/>
          <p:nvPr/>
        </p:nvSpPr>
        <p:spPr>
          <a:xfrm>
            <a:off x="6263640" y="370332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19" name="Shape 14"/>
          <p:cNvSpPr/>
          <p:nvPr/>
        </p:nvSpPr>
        <p:spPr>
          <a:xfrm>
            <a:off x="6515100" y="3954780"/>
            <a:ext cx="502920" cy="502920"/>
          </a:xfrm>
          <a:prstGeom prst="ellipse">
            <a:avLst/>
          </a:prstGeom>
          <a:solidFill>
            <a:srgbClr val="0B2545"/>
          </a:solidFill>
          <a:ln/>
        </p:spPr>
      </p:sp>
      <p:pic>
        <p:nvPicPr>
          <p:cNvPr id="20" name="Image 3" descr="icons/sitemap_white.png">    </p:cNvPr>
          <p:cNvPicPr>
            <a:picLocks noChangeAspect="1"/>
          </p:cNvPicPr>
          <p:nvPr/>
        </p:nvPicPr>
        <p:blipFill>
          <a:blip r:embed="rId4"/>
          <a:stretch>
            <a:fillRect/>
          </a:stretch>
        </p:blipFill>
        <p:spPr>
          <a:xfrm>
            <a:off x="6628257" y="4067937"/>
            <a:ext cx="276606" cy="276606"/>
          </a:xfrm>
          <a:prstGeom prst="rect">
            <a:avLst/>
          </a:prstGeom>
        </p:spPr>
      </p:pic>
      <p:sp>
        <p:nvSpPr>
          <p:cNvPr id="21" name="Text 15"/>
          <p:cNvSpPr/>
          <p:nvPr/>
        </p:nvSpPr>
        <p:spPr>
          <a:xfrm>
            <a:off x="7178040" y="393192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Vehicle–Rider Association</a:t>
            </a:r>
            <a:endParaRPr lang="en-US" sz="1450" dirty="0"/>
          </a:p>
        </p:txBody>
      </p:sp>
      <p:sp>
        <p:nvSpPr>
          <p:cNvPr id="22" name="Text 16"/>
          <p:cNvSpPr/>
          <p:nvPr/>
        </p:nvSpPr>
        <p:spPr>
          <a:xfrm>
            <a:off x="6583680" y="4617720"/>
            <a:ext cx="4709160" cy="1097280"/>
          </a:xfrm>
          <a:prstGeom prst="rect">
            <a:avLst/>
          </a:prstGeom>
          <a:noFill/>
          <a:ln/>
        </p:spPr>
        <p:txBody>
          <a:bodyPr wrap="square" lIns="0" tIns="0" rIns="0" bIns="0" rtlCol="0" anchor="ctr"/>
          <a:lstStyle/>
          <a:p>
            <a:pPr indent="0" marL="0">
              <a:lnSpc>
                <a:spcPct val="125000"/>
              </a:lnSpc>
              <a:buNone/>
            </a:pPr>
            <a:r>
              <a:rPr lang="en-US" sz="1150" dirty="0">
                <a:solidFill>
                  <a:srgbClr val="5B6B85"/>
                </a:solidFill>
                <a:latin typeface="Calibri" pitchFamily="34" charset="0"/>
                <a:ea typeface="Calibri" pitchFamily="34" charset="-122"/>
                <a:cs typeface="Calibri" pitchFamily="34" charset="-120"/>
              </a:rPr>
              <a:t>Beyond simple box overlap: combines IoU, center-point distance, motion consistency &amp; tracking history into one association score.</a:t>
            </a:r>
            <a:endParaRPr lang="en-US" sz="1150" dirty="0"/>
          </a:p>
        </p:txBody>
      </p:sp>
      <p:sp>
        <p:nvSpPr>
          <p:cNvPr id="23"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24"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Stage 7 · Seven Violation Types, Rule-Driven Logic</a:t>
            </a:r>
            <a:endParaRPr lang="en-US" sz="2800" dirty="0"/>
          </a:p>
        </p:txBody>
      </p:sp>
      <p:sp>
        <p:nvSpPr>
          <p:cNvPr id="3" name="Shape 1"/>
          <p:cNvSpPr/>
          <p:nvPr/>
        </p:nvSpPr>
        <p:spPr>
          <a:xfrm>
            <a:off x="548640" y="1097280"/>
            <a:ext cx="3456432" cy="1417320"/>
          </a:xfrm>
          <a:prstGeom prst="roundRect">
            <a:avLst>
              <a:gd name="adj" fmla="val 4516"/>
            </a:avLst>
          </a:prstGeom>
          <a:solidFill>
            <a:srgbClr val="F7F9FC"/>
          </a:solidFill>
          <a:ln/>
          <a:effectLst>
            <a:outerShdw sx="100000" sy="100000" kx="0" ky="0" algn="bl" rotWithShape="0" blurRad="101600" dist="38100" dir="2700000">
              <a:srgbClr val="000000">
                <a:alpha val="12000"/>
              </a:srgbClr>
            </a:outerShdw>
          </a:effectLst>
        </p:spPr>
      </p:sp>
      <p:sp>
        <p:nvSpPr>
          <p:cNvPr id="4" name="Shape 2"/>
          <p:cNvSpPr/>
          <p:nvPr/>
        </p:nvSpPr>
        <p:spPr>
          <a:xfrm>
            <a:off x="754380" y="1303020"/>
            <a:ext cx="502920" cy="502920"/>
          </a:xfrm>
          <a:prstGeom prst="ellipse">
            <a:avLst/>
          </a:prstGeom>
          <a:solidFill>
            <a:srgbClr val="0B2545"/>
          </a:solidFill>
          <a:ln/>
        </p:spPr>
      </p:sp>
      <p:pic>
        <p:nvPicPr>
          <p:cNvPr id="5" name="Image 0" descr="icons/moto_white.png">    </p:cNvPr>
          <p:cNvPicPr>
            <a:picLocks noChangeAspect="1"/>
          </p:cNvPicPr>
          <p:nvPr/>
        </p:nvPicPr>
        <p:blipFill>
          <a:blip r:embed="rId1"/>
          <a:stretch>
            <a:fillRect/>
          </a:stretch>
        </p:blipFill>
        <p:spPr>
          <a:xfrm>
            <a:off x="867537" y="1416177"/>
            <a:ext cx="276606" cy="276606"/>
          </a:xfrm>
          <a:prstGeom prst="rect">
            <a:avLst/>
          </a:prstGeom>
        </p:spPr>
      </p:pic>
      <p:sp>
        <p:nvSpPr>
          <p:cNvPr id="6" name="Text 3"/>
          <p:cNvSpPr/>
          <p:nvPr/>
        </p:nvSpPr>
        <p:spPr>
          <a:xfrm>
            <a:off x="1463040" y="1261872"/>
            <a:ext cx="2404872" cy="5486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Helmet Violation</a:t>
            </a:r>
            <a:endParaRPr lang="en-US" sz="1300" dirty="0"/>
          </a:p>
        </p:txBody>
      </p:sp>
      <p:sp>
        <p:nvSpPr>
          <p:cNvPr id="7" name="Text 4"/>
          <p:cNvSpPr/>
          <p:nvPr/>
        </p:nvSpPr>
        <p:spPr>
          <a:xfrm>
            <a:off x="777240" y="1938528"/>
            <a:ext cx="2999232" cy="502920"/>
          </a:xfrm>
          <a:prstGeom prst="rect">
            <a:avLst/>
          </a:prstGeom>
          <a:noFill/>
          <a:ln/>
        </p:spPr>
        <p:txBody>
          <a:bodyPr wrap="square" lIns="0" tIns="0" rIns="0" bIns="0" rtlCol="0" anchor="ctr"/>
          <a:lstStyle/>
          <a:p>
            <a:pPr indent="0" marL="0">
              <a:lnSpc>
                <a:spcPct val="115000"/>
              </a:lnSpc>
              <a:buNone/>
            </a:pPr>
            <a:r>
              <a:rPr lang="en-US" sz="1050" dirty="0">
                <a:solidFill>
                  <a:srgbClr val="5B6B85"/>
                </a:solidFill>
                <a:latin typeface="Calibri" pitchFamily="34" charset="0"/>
                <a:ea typeface="Calibri" pitchFamily="34" charset="-122"/>
                <a:cs typeface="Calibri" pitchFamily="34" charset="-120"/>
              </a:rPr>
              <a:t>Rider detected, no helmet present</a:t>
            </a:r>
            <a:endParaRPr lang="en-US" sz="1050" dirty="0"/>
          </a:p>
        </p:txBody>
      </p:sp>
      <p:sp>
        <p:nvSpPr>
          <p:cNvPr id="8" name="Shape 5"/>
          <p:cNvSpPr/>
          <p:nvPr/>
        </p:nvSpPr>
        <p:spPr>
          <a:xfrm>
            <a:off x="4169664" y="1097280"/>
            <a:ext cx="3456432" cy="1417320"/>
          </a:xfrm>
          <a:prstGeom prst="roundRect">
            <a:avLst>
              <a:gd name="adj" fmla="val 4516"/>
            </a:avLst>
          </a:prstGeom>
          <a:solidFill>
            <a:srgbClr val="F7F9FC"/>
          </a:solidFill>
          <a:ln/>
          <a:effectLst>
            <a:outerShdw sx="100000" sy="100000" kx="0" ky="0" algn="bl" rotWithShape="0" blurRad="101600" dist="38100" dir="2700000">
              <a:srgbClr val="000000">
                <a:alpha val="12000"/>
              </a:srgbClr>
            </a:outerShdw>
          </a:effectLst>
        </p:spPr>
      </p:sp>
      <p:sp>
        <p:nvSpPr>
          <p:cNvPr id="9" name="Shape 6"/>
          <p:cNvSpPr/>
          <p:nvPr/>
        </p:nvSpPr>
        <p:spPr>
          <a:xfrm>
            <a:off x="4375404" y="1303020"/>
            <a:ext cx="502920" cy="502920"/>
          </a:xfrm>
          <a:prstGeom prst="ellipse">
            <a:avLst/>
          </a:prstGeom>
          <a:solidFill>
            <a:srgbClr val="0B2545"/>
          </a:solidFill>
          <a:ln/>
        </p:spPr>
      </p:sp>
      <p:pic>
        <p:nvPicPr>
          <p:cNvPr id="10" name="Image 1" descr="icons/noseatbelt_white.png">    </p:cNvPr>
          <p:cNvPicPr>
            <a:picLocks noChangeAspect="1"/>
          </p:cNvPicPr>
          <p:nvPr/>
        </p:nvPicPr>
        <p:blipFill>
          <a:blip r:embed="rId2"/>
          <a:stretch>
            <a:fillRect/>
          </a:stretch>
        </p:blipFill>
        <p:spPr>
          <a:xfrm>
            <a:off x="4488561" y="1416177"/>
            <a:ext cx="276606" cy="276606"/>
          </a:xfrm>
          <a:prstGeom prst="rect">
            <a:avLst/>
          </a:prstGeom>
        </p:spPr>
      </p:pic>
      <p:sp>
        <p:nvSpPr>
          <p:cNvPr id="11" name="Text 7"/>
          <p:cNvSpPr/>
          <p:nvPr/>
        </p:nvSpPr>
        <p:spPr>
          <a:xfrm>
            <a:off x="5084064" y="1261872"/>
            <a:ext cx="2404872" cy="5486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Seatbelt Violation</a:t>
            </a:r>
            <a:endParaRPr lang="en-US" sz="1300" dirty="0"/>
          </a:p>
        </p:txBody>
      </p:sp>
      <p:sp>
        <p:nvSpPr>
          <p:cNvPr id="12" name="Text 8"/>
          <p:cNvSpPr/>
          <p:nvPr/>
        </p:nvSpPr>
        <p:spPr>
          <a:xfrm>
            <a:off x="4398264" y="1938528"/>
            <a:ext cx="2999232" cy="502920"/>
          </a:xfrm>
          <a:prstGeom prst="rect">
            <a:avLst/>
          </a:prstGeom>
          <a:noFill/>
          <a:ln/>
        </p:spPr>
        <p:txBody>
          <a:bodyPr wrap="square" lIns="0" tIns="0" rIns="0" bIns="0" rtlCol="0" anchor="ctr"/>
          <a:lstStyle/>
          <a:p>
            <a:pPr indent="0" marL="0">
              <a:lnSpc>
                <a:spcPct val="115000"/>
              </a:lnSpc>
              <a:buNone/>
            </a:pPr>
            <a:r>
              <a:rPr lang="en-US" sz="1050" dirty="0">
                <a:solidFill>
                  <a:srgbClr val="5B6B85"/>
                </a:solidFill>
                <a:latin typeface="Calibri" pitchFamily="34" charset="0"/>
                <a:ea typeface="Calibri" pitchFamily="34" charset="-122"/>
                <a:cs typeface="Calibri" pitchFamily="34" charset="-120"/>
              </a:rPr>
              <a:t>Driver region has no seatbelt detected</a:t>
            </a:r>
            <a:endParaRPr lang="en-US" sz="1050" dirty="0"/>
          </a:p>
        </p:txBody>
      </p:sp>
      <p:sp>
        <p:nvSpPr>
          <p:cNvPr id="13" name="Shape 9"/>
          <p:cNvSpPr/>
          <p:nvPr/>
        </p:nvSpPr>
        <p:spPr>
          <a:xfrm>
            <a:off x="7790688" y="1097280"/>
            <a:ext cx="3456432" cy="1417320"/>
          </a:xfrm>
          <a:prstGeom prst="roundRect">
            <a:avLst>
              <a:gd name="adj" fmla="val 4516"/>
            </a:avLst>
          </a:prstGeom>
          <a:solidFill>
            <a:srgbClr val="F7F9FC"/>
          </a:solidFill>
          <a:ln/>
          <a:effectLst>
            <a:outerShdw sx="100000" sy="100000" kx="0" ky="0" algn="bl" rotWithShape="0" blurRad="101600" dist="38100" dir="2700000">
              <a:srgbClr val="000000">
                <a:alpha val="12000"/>
              </a:srgbClr>
            </a:outerShdw>
          </a:effectLst>
        </p:spPr>
      </p:sp>
      <p:sp>
        <p:nvSpPr>
          <p:cNvPr id="14" name="Shape 10"/>
          <p:cNvSpPr/>
          <p:nvPr/>
        </p:nvSpPr>
        <p:spPr>
          <a:xfrm>
            <a:off x="7996428" y="1303020"/>
            <a:ext cx="502920" cy="502920"/>
          </a:xfrm>
          <a:prstGeom prst="ellipse">
            <a:avLst/>
          </a:prstGeom>
          <a:solidFill>
            <a:srgbClr val="0B2545"/>
          </a:solidFill>
          <a:ln/>
        </p:spPr>
      </p:sp>
      <p:pic>
        <p:nvPicPr>
          <p:cNvPr id="15" name="Image 2" descr="icons/car_white.png">    </p:cNvPr>
          <p:cNvPicPr>
            <a:picLocks noChangeAspect="1"/>
          </p:cNvPicPr>
          <p:nvPr/>
        </p:nvPicPr>
        <p:blipFill>
          <a:blip r:embed="rId3"/>
          <a:stretch>
            <a:fillRect/>
          </a:stretch>
        </p:blipFill>
        <p:spPr>
          <a:xfrm>
            <a:off x="8109585" y="1416177"/>
            <a:ext cx="276606" cy="276606"/>
          </a:xfrm>
          <a:prstGeom prst="rect">
            <a:avLst/>
          </a:prstGeom>
        </p:spPr>
      </p:pic>
      <p:sp>
        <p:nvSpPr>
          <p:cNvPr id="16" name="Text 11"/>
          <p:cNvSpPr/>
          <p:nvPr/>
        </p:nvSpPr>
        <p:spPr>
          <a:xfrm>
            <a:off x="8705088" y="1261872"/>
            <a:ext cx="2404872" cy="5486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Triple Riding</a:t>
            </a:r>
            <a:endParaRPr lang="en-US" sz="1300" dirty="0"/>
          </a:p>
        </p:txBody>
      </p:sp>
      <p:sp>
        <p:nvSpPr>
          <p:cNvPr id="17" name="Text 12"/>
          <p:cNvSpPr/>
          <p:nvPr/>
        </p:nvSpPr>
        <p:spPr>
          <a:xfrm>
            <a:off x="8019288" y="1938528"/>
            <a:ext cx="2999232" cy="502920"/>
          </a:xfrm>
          <a:prstGeom prst="rect">
            <a:avLst/>
          </a:prstGeom>
          <a:noFill/>
          <a:ln/>
        </p:spPr>
        <p:txBody>
          <a:bodyPr wrap="square" lIns="0" tIns="0" rIns="0" bIns="0" rtlCol="0" anchor="ctr"/>
          <a:lstStyle/>
          <a:p>
            <a:pPr indent="0" marL="0">
              <a:lnSpc>
                <a:spcPct val="115000"/>
              </a:lnSpc>
              <a:buNone/>
            </a:pPr>
            <a:r>
              <a:rPr lang="en-US" sz="1050" dirty="0">
                <a:solidFill>
                  <a:srgbClr val="5B6B85"/>
                </a:solidFill>
                <a:latin typeface="Calibri" pitchFamily="34" charset="0"/>
                <a:ea typeface="Calibri" pitchFamily="34" charset="-122"/>
                <a:cs typeface="Calibri" pitchFamily="34" charset="-120"/>
              </a:rPr>
              <a:t>Rider count on motorcycle &gt; 2</a:t>
            </a:r>
            <a:endParaRPr lang="en-US" sz="1050" dirty="0"/>
          </a:p>
        </p:txBody>
      </p:sp>
      <p:sp>
        <p:nvSpPr>
          <p:cNvPr id="18" name="Shape 13"/>
          <p:cNvSpPr/>
          <p:nvPr/>
        </p:nvSpPr>
        <p:spPr>
          <a:xfrm>
            <a:off x="548640" y="2679192"/>
            <a:ext cx="3456432" cy="1417320"/>
          </a:xfrm>
          <a:prstGeom prst="roundRect">
            <a:avLst>
              <a:gd name="adj" fmla="val 4516"/>
            </a:avLst>
          </a:prstGeom>
          <a:solidFill>
            <a:srgbClr val="F7F9FC"/>
          </a:solidFill>
          <a:ln/>
          <a:effectLst>
            <a:outerShdw sx="100000" sy="100000" kx="0" ky="0" algn="bl" rotWithShape="0" blurRad="101600" dist="38100" dir="2700000">
              <a:srgbClr val="000000">
                <a:alpha val="12000"/>
              </a:srgbClr>
            </a:outerShdw>
          </a:effectLst>
        </p:spPr>
      </p:sp>
      <p:sp>
        <p:nvSpPr>
          <p:cNvPr id="19" name="Shape 14"/>
          <p:cNvSpPr/>
          <p:nvPr/>
        </p:nvSpPr>
        <p:spPr>
          <a:xfrm>
            <a:off x="754380" y="2884932"/>
            <a:ext cx="502920" cy="502920"/>
          </a:xfrm>
          <a:prstGeom prst="ellipse">
            <a:avLst/>
          </a:prstGeom>
          <a:solidFill>
            <a:srgbClr val="0B2545"/>
          </a:solidFill>
          <a:ln/>
        </p:spPr>
      </p:sp>
      <p:pic>
        <p:nvPicPr>
          <p:cNvPr id="20" name="Image 3" descr="icons/road_white.png">    </p:cNvPr>
          <p:cNvPicPr>
            <a:picLocks noChangeAspect="1"/>
          </p:cNvPicPr>
          <p:nvPr/>
        </p:nvPicPr>
        <p:blipFill>
          <a:blip r:embed="rId4"/>
          <a:stretch>
            <a:fillRect/>
          </a:stretch>
        </p:blipFill>
        <p:spPr>
          <a:xfrm>
            <a:off x="867537" y="2998089"/>
            <a:ext cx="276606" cy="276606"/>
          </a:xfrm>
          <a:prstGeom prst="rect">
            <a:avLst/>
          </a:prstGeom>
        </p:spPr>
      </p:pic>
      <p:sp>
        <p:nvSpPr>
          <p:cNvPr id="21" name="Text 15"/>
          <p:cNvSpPr/>
          <p:nvPr/>
        </p:nvSpPr>
        <p:spPr>
          <a:xfrm>
            <a:off x="1463040" y="2843784"/>
            <a:ext cx="2404872" cy="5486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Wrong-Side Driving</a:t>
            </a:r>
            <a:endParaRPr lang="en-US" sz="1300" dirty="0"/>
          </a:p>
        </p:txBody>
      </p:sp>
      <p:sp>
        <p:nvSpPr>
          <p:cNvPr id="22" name="Text 16"/>
          <p:cNvSpPr/>
          <p:nvPr/>
        </p:nvSpPr>
        <p:spPr>
          <a:xfrm>
            <a:off x="777240" y="3520440"/>
            <a:ext cx="2999232" cy="502920"/>
          </a:xfrm>
          <a:prstGeom prst="rect">
            <a:avLst/>
          </a:prstGeom>
          <a:noFill/>
          <a:ln/>
        </p:spPr>
        <p:txBody>
          <a:bodyPr wrap="square" lIns="0" tIns="0" rIns="0" bIns="0" rtlCol="0" anchor="ctr"/>
          <a:lstStyle/>
          <a:p>
            <a:pPr indent="0" marL="0">
              <a:lnSpc>
                <a:spcPct val="115000"/>
              </a:lnSpc>
              <a:buNone/>
            </a:pPr>
            <a:r>
              <a:rPr lang="en-US" sz="1050" dirty="0">
                <a:solidFill>
                  <a:srgbClr val="5B6B85"/>
                </a:solidFill>
                <a:latin typeface="Calibri" pitchFamily="34" charset="0"/>
                <a:ea typeface="Calibri" pitchFamily="34" charset="-122"/>
                <a:cs typeface="Calibri" pitchFamily="34" charset="-120"/>
              </a:rPr>
              <a:t>Vehicle motion vector opposes lane direction</a:t>
            </a:r>
            <a:endParaRPr lang="en-US" sz="1050" dirty="0"/>
          </a:p>
        </p:txBody>
      </p:sp>
      <p:sp>
        <p:nvSpPr>
          <p:cNvPr id="23" name="Shape 17"/>
          <p:cNvSpPr/>
          <p:nvPr/>
        </p:nvSpPr>
        <p:spPr>
          <a:xfrm>
            <a:off x="4169664" y="2679192"/>
            <a:ext cx="3456432" cy="1417320"/>
          </a:xfrm>
          <a:prstGeom prst="roundRect">
            <a:avLst>
              <a:gd name="adj" fmla="val 4516"/>
            </a:avLst>
          </a:prstGeom>
          <a:solidFill>
            <a:srgbClr val="F7F9FC"/>
          </a:solidFill>
          <a:ln/>
          <a:effectLst>
            <a:outerShdw sx="100000" sy="100000" kx="0" ky="0" algn="bl" rotWithShape="0" blurRad="101600" dist="38100" dir="2700000">
              <a:srgbClr val="000000">
                <a:alpha val="12000"/>
              </a:srgbClr>
            </a:outerShdw>
          </a:effectLst>
        </p:spPr>
      </p:sp>
      <p:sp>
        <p:nvSpPr>
          <p:cNvPr id="24" name="Shape 18"/>
          <p:cNvSpPr/>
          <p:nvPr/>
        </p:nvSpPr>
        <p:spPr>
          <a:xfrm>
            <a:off x="4375404" y="2884932"/>
            <a:ext cx="502920" cy="502920"/>
          </a:xfrm>
          <a:prstGeom prst="ellipse">
            <a:avLst/>
          </a:prstGeom>
          <a:solidFill>
            <a:srgbClr val="0B2545"/>
          </a:solidFill>
          <a:ln/>
        </p:spPr>
      </p:sp>
      <p:pic>
        <p:nvPicPr>
          <p:cNvPr id="25" name="Image 4" descr="icons/ban_white.png">    </p:cNvPr>
          <p:cNvPicPr>
            <a:picLocks noChangeAspect="1"/>
          </p:cNvPicPr>
          <p:nvPr/>
        </p:nvPicPr>
        <p:blipFill>
          <a:blip r:embed="rId5"/>
          <a:stretch>
            <a:fillRect/>
          </a:stretch>
        </p:blipFill>
        <p:spPr>
          <a:xfrm>
            <a:off x="4488561" y="2998089"/>
            <a:ext cx="276606" cy="276606"/>
          </a:xfrm>
          <a:prstGeom prst="rect">
            <a:avLst/>
          </a:prstGeom>
        </p:spPr>
      </p:pic>
      <p:sp>
        <p:nvSpPr>
          <p:cNvPr id="26" name="Text 19"/>
          <p:cNvSpPr/>
          <p:nvPr/>
        </p:nvSpPr>
        <p:spPr>
          <a:xfrm>
            <a:off x="5084064" y="2843784"/>
            <a:ext cx="2404872" cy="5486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Stop-Line Violation</a:t>
            </a:r>
            <a:endParaRPr lang="en-US" sz="1300" dirty="0"/>
          </a:p>
        </p:txBody>
      </p:sp>
      <p:sp>
        <p:nvSpPr>
          <p:cNvPr id="27" name="Text 20"/>
          <p:cNvSpPr/>
          <p:nvPr/>
        </p:nvSpPr>
        <p:spPr>
          <a:xfrm>
            <a:off x="4398264" y="3520440"/>
            <a:ext cx="2999232" cy="502920"/>
          </a:xfrm>
          <a:prstGeom prst="rect">
            <a:avLst/>
          </a:prstGeom>
          <a:noFill/>
          <a:ln/>
        </p:spPr>
        <p:txBody>
          <a:bodyPr wrap="square" lIns="0" tIns="0" rIns="0" bIns="0" rtlCol="0" anchor="ctr"/>
          <a:lstStyle/>
          <a:p>
            <a:pPr indent="0" marL="0">
              <a:lnSpc>
                <a:spcPct val="115000"/>
              </a:lnSpc>
              <a:buNone/>
            </a:pPr>
            <a:r>
              <a:rPr lang="en-US" sz="1050" dirty="0">
                <a:solidFill>
                  <a:srgbClr val="5B6B85"/>
                </a:solidFill>
                <a:latin typeface="Calibri" pitchFamily="34" charset="0"/>
                <a:ea typeface="Calibri" pitchFamily="34" charset="-122"/>
                <a:cs typeface="Calibri" pitchFamily="34" charset="-120"/>
              </a:rPr>
              <a:t>Bottom-center crosses stop line on red</a:t>
            </a:r>
            <a:endParaRPr lang="en-US" sz="1050" dirty="0"/>
          </a:p>
        </p:txBody>
      </p:sp>
      <p:sp>
        <p:nvSpPr>
          <p:cNvPr id="28" name="Shape 21"/>
          <p:cNvSpPr/>
          <p:nvPr/>
        </p:nvSpPr>
        <p:spPr>
          <a:xfrm>
            <a:off x="7790688" y="2679192"/>
            <a:ext cx="3456432" cy="1417320"/>
          </a:xfrm>
          <a:prstGeom prst="roundRect">
            <a:avLst>
              <a:gd name="adj" fmla="val 4516"/>
            </a:avLst>
          </a:prstGeom>
          <a:solidFill>
            <a:srgbClr val="F7F9FC"/>
          </a:solidFill>
          <a:ln/>
          <a:effectLst>
            <a:outerShdw sx="100000" sy="100000" kx="0" ky="0" algn="bl" rotWithShape="0" blurRad="101600" dist="38100" dir="2700000">
              <a:srgbClr val="000000">
                <a:alpha val="12000"/>
              </a:srgbClr>
            </a:outerShdw>
          </a:effectLst>
        </p:spPr>
      </p:sp>
      <p:sp>
        <p:nvSpPr>
          <p:cNvPr id="29" name="Shape 22"/>
          <p:cNvSpPr/>
          <p:nvPr/>
        </p:nvSpPr>
        <p:spPr>
          <a:xfrm>
            <a:off x="7996428" y="2884932"/>
            <a:ext cx="502920" cy="502920"/>
          </a:xfrm>
          <a:prstGeom prst="ellipse">
            <a:avLst/>
          </a:prstGeom>
          <a:solidFill>
            <a:srgbClr val="0B2545"/>
          </a:solidFill>
          <a:ln/>
        </p:spPr>
      </p:sp>
      <p:pic>
        <p:nvPicPr>
          <p:cNvPr id="30" name="Image 5" descr="icons/light_white.png">    </p:cNvPr>
          <p:cNvPicPr>
            <a:picLocks noChangeAspect="1"/>
          </p:cNvPicPr>
          <p:nvPr/>
        </p:nvPicPr>
        <p:blipFill>
          <a:blip r:embed="rId6"/>
          <a:stretch>
            <a:fillRect/>
          </a:stretch>
        </p:blipFill>
        <p:spPr>
          <a:xfrm>
            <a:off x="8109585" y="2998089"/>
            <a:ext cx="276606" cy="276606"/>
          </a:xfrm>
          <a:prstGeom prst="rect">
            <a:avLst/>
          </a:prstGeom>
        </p:spPr>
      </p:pic>
      <p:sp>
        <p:nvSpPr>
          <p:cNvPr id="31" name="Text 23"/>
          <p:cNvSpPr/>
          <p:nvPr/>
        </p:nvSpPr>
        <p:spPr>
          <a:xfrm>
            <a:off x="8705088" y="2843784"/>
            <a:ext cx="2404872" cy="5486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Red-Light Violation</a:t>
            </a:r>
            <a:endParaRPr lang="en-US" sz="1300" dirty="0"/>
          </a:p>
        </p:txBody>
      </p:sp>
      <p:sp>
        <p:nvSpPr>
          <p:cNvPr id="32" name="Text 24"/>
          <p:cNvSpPr/>
          <p:nvPr/>
        </p:nvSpPr>
        <p:spPr>
          <a:xfrm>
            <a:off x="8019288" y="3520440"/>
            <a:ext cx="2999232" cy="502920"/>
          </a:xfrm>
          <a:prstGeom prst="rect">
            <a:avLst/>
          </a:prstGeom>
          <a:noFill/>
          <a:ln/>
        </p:spPr>
        <p:txBody>
          <a:bodyPr wrap="square" lIns="0" tIns="0" rIns="0" bIns="0" rtlCol="0" anchor="ctr"/>
          <a:lstStyle/>
          <a:p>
            <a:pPr indent="0" marL="0">
              <a:lnSpc>
                <a:spcPct val="115000"/>
              </a:lnSpc>
              <a:buNone/>
            </a:pPr>
            <a:r>
              <a:rPr lang="en-US" sz="1050" dirty="0">
                <a:solidFill>
                  <a:srgbClr val="5B6B85"/>
                </a:solidFill>
                <a:latin typeface="Calibri" pitchFamily="34" charset="0"/>
                <a:ea typeface="Calibri" pitchFamily="34" charset="-122"/>
                <a:cs typeface="Calibri" pitchFamily="34" charset="-120"/>
              </a:rPr>
              <a:t>Vehicle crosses line after signal turns red</a:t>
            </a:r>
            <a:endParaRPr lang="en-US" sz="1050" dirty="0"/>
          </a:p>
        </p:txBody>
      </p:sp>
      <p:sp>
        <p:nvSpPr>
          <p:cNvPr id="33" name="Shape 25"/>
          <p:cNvSpPr/>
          <p:nvPr/>
        </p:nvSpPr>
        <p:spPr>
          <a:xfrm>
            <a:off x="548640" y="4261104"/>
            <a:ext cx="3456432" cy="1417320"/>
          </a:xfrm>
          <a:prstGeom prst="roundRect">
            <a:avLst>
              <a:gd name="adj" fmla="val 4516"/>
            </a:avLst>
          </a:prstGeom>
          <a:solidFill>
            <a:srgbClr val="F7F9FC"/>
          </a:solidFill>
          <a:ln/>
          <a:effectLst>
            <a:outerShdw sx="100000" sy="100000" kx="0" ky="0" algn="bl" rotWithShape="0" blurRad="101600" dist="38100" dir="2700000">
              <a:srgbClr val="000000">
                <a:alpha val="12000"/>
              </a:srgbClr>
            </a:outerShdw>
          </a:effectLst>
        </p:spPr>
      </p:sp>
      <p:sp>
        <p:nvSpPr>
          <p:cNvPr id="34" name="Shape 26"/>
          <p:cNvSpPr/>
          <p:nvPr/>
        </p:nvSpPr>
        <p:spPr>
          <a:xfrm>
            <a:off x="754380" y="4466844"/>
            <a:ext cx="502920" cy="502920"/>
          </a:xfrm>
          <a:prstGeom prst="ellipse">
            <a:avLst/>
          </a:prstGeom>
          <a:solidFill>
            <a:srgbClr val="0B2545"/>
          </a:solidFill>
          <a:ln/>
        </p:spPr>
      </p:sp>
      <p:pic>
        <p:nvPicPr>
          <p:cNvPr id="35" name="Image 6" descr="icons/clock_white.png">    </p:cNvPr>
          <p:cNvPicPr>
            <a:picLocks noChangeAspect="1"/>
          </p:cNvPicPr>
          <p:nvPr/>
        </p:nvPicPr>
        <p:blipFill>
          <a:blip r:embed="rId7"/>
          <a:stretch>
            <a:fillRect/>
          </a:stretch>
        </p:blipFill>
        <p:spPr>
          <a:xfrm>
            <a:off x="867537" y="4580001"/>
            <a:ext cx="276606" cy="276606"/>
          </a:xfrm>
          <a:prstGeom prst="rect">
            <a:avLst/>
          </a:prstGeom>
        </p:spPr>
      </p:pic>
      <p:sp>
        <p:nvSpPr>
          <p:cNvPr id="36" name="Text 27"/>
          <p:cNvSpPr/>
          <p:nvPr/>
        </p:nvSpPr>
        <p:spPr>
          <a:xfrm>
            <a:off x="1463040" y="4425696"/>
            <a:ext cx="2404872" cy="5486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Illegal Parking</a:t>
            </a:r>
            <a:endParaRPr lang="en-US" sz="1300" dirty="0"/>
          </a:p>
        </p:txBody>
      </p:sp>
      <p:sp>
        <p:nvSpPr>
          <p:cNvPr id="37" name="Text 28"/>
          <p:cNvSpPr/>
          <p:nvPr/>
        </p:nvSpPr>
        <p:spPr>
          <a:xfrm>
            <a:off x="777240" y="5102352"/>
            <a:ext cx="2999232" cy="502920"/>
          </a:xfrm>
          <a:prstGeom prst="rect">
            <a:avLst/>
          </a:prstGeom>
          <a:noFill/>
          <a:ln/>
        </p:spPr>
        <p:txBody>
          <a:bodyPr wrap="square" lIns="0" tIns="0" rIns="0" bIns="0" rtlCol="0" anchor="ctr"/>
          <a:lstStyle/>
          <a:p>
            <a:pPr indent="0" marL="0">
              <a:lnSpc>
                <a:spcPct val="115000"/>
              </a:lnSpc>
              <a:buNone/>
            </a:pPr>
            <a:r>
              <a:rPr lang="en-US" sz="1050" dirty="0">
                <a:solidFill>
                  <a:srgbClr val="5B6B85"/>
                </a:solidFill>
                <a:latin typeface="Calibri" pitchFamily="34" charset="0"/>
                <a:ea typeface="Calibri" pitchFamily="34" charset="-122"/>
                <a:cs typeface="Calibri" pitchFamily="34" charset="-120"/>
              </a:rPr>
              <a:t>Stationary in no-parking zone beyond threshold</a:t>
            </a:r>
            <a:endParaRPr lang="en-US" sz="1050" dirty="0"/>
          </a:p>
        </p:txBody>
      </p:sp>
      <p:sp>
        <p:nvSpPr>
          <p:cNvPr id="38" name="Text 29"/>
          <p:cNvSpPr/>
          <p:nvPr/>
        </p:nvSpPr>
        <p:spPr>
          <a:xfrm>
            <a:off x="4169664" y="4398264"/>
            <a:ext cx="7077456" cy="1143000"/>
          </a:xfrm>
          <a:prstGeom prst="rect">
            <a:avLst/>
          </a:prstGeom>
          <a:noFill/>
          <a:ln/>
        </p:spPr>
        <p:txBody>
          <a:bodyPr wrap="square" lIns="0" tIns="0" rIns="0" bIns="0" rtlCol="0" anchor="ctr"/>
          <a:lstStyle/>
          <a:p>
            <a:pPr indent="0" marL="0">
              <a:lnSpc>
                <a:spcPct val="130000"/>
              </a:lnSpc>
              <a:buNone/>
            </a:pPr>
            <a:r>
              <a:rPr lang="en-US" sz="1250" i="1" dirty="0">
                <a:solidFill>
                  <a:srgbClr val="5B6B85"/>
                </a:solidFill>
                <a:latin typeface="Calibri" pitchFamily="34" charset="0"/>
                <a:ea typeface="Calibri" pitchFamily="34" charset="-122"/>
                <a:cs typeface="Calibri" pitchFamily="34" charset="-120"/>
              </a:rPr>
              <a:t>Precision by design: stop-line and red-light logic track the bottom-center point, not full bounding-box overlap, specifically to avoid false positives.</a:t>
            </a:r>
            <a:endParaRPr lang="en-US" sz="1250" dirty="0"/>
          </a:p>
        </p:txBody>
      </p:sp>
      <p:sp>
        <p:nvSpPr>
          <p:cNvPr id="39" name="Text 3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40" name="Text 3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502920"/>
            <a:ext cx="5486400" cy="365760"/>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KEY INNOVATION</a:t>
            </a:r>
            <a:endParaRPr lang="en-US" sz="1300" dirty="0"/>
          </a:p>
        </p:txBody>
      </p:sp>
      <p:sp>
        <p:nvSpPr>
          <p:cNvPr id="3" name="Text 1"/>
          <p:cNvSpPr/>
          <p:nvPr/>
        </p:nvSpPr>
        <p:spPr>
          <a:xfrm>
            <a:off x="548640" y="86868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Violation Reasoning Engine</a:t>
            </a:r>
            <a:endParaRPr lang="en-US" sz="3200" dirty="0"/>
          </a:p>
        </p:txBody>
      </p:sp>
      <p:sp>
        <p:nvSpPr>
          <p:cNvPr id="4" name="Text 2"/>
          <p:cNvSpPr/>
          <p:nvPr/>
        </p:nvSpPr>
        <p:spPr>
          <a:xfrm>
            <a:off x="548640" y="1463040"/>
            <a:ext cx="6858000" cy="457200"/>
          </a:xfrm>
          <a:prstGeom prst="rect">
            <a:avLst/>
          </a:prstGeom>
          <a:noFill/>
          <a:ln/>
        </p:spPr>
        <p:txBody>
          <a:bodyPr wrap="square" lIns="0" tIns="0" rIns="0" bIns="0" rtlCol="0" anchor="ctr"/>
          <a:lstStyle/>
          <a:p>
            <a:pPr indent="0" marL="0">
              <a:buNone/>
            </a:pPr>
            <a:r>
              <a:rPr lang="en-US" sz="1350" dirty="0">
                <a:solidFill>
                  <a:srgbClr val="DCE7F5"/>
                </a:solidFill>
                <a:latin typeface="Calibri" pitchFamily="34" charset="0"/>
                <a:ea typeface="Calibri" pitchFamily="34" charset="-122"/>
                <a:cs typeface="Calibri" pitchFamily="34" charset="-120"/>
              </a:rPr>
              <a:t>Stage 8 — goes beyond simple rule-based detection by modeling relationships as a scene graph.</a:t>
            </a:r>
            <a:endParaRPr lang="en-US" sz="1350" dirty="0"/>
          </a:p>
        </p:txBody>
      </p:sp>
      <p:sp>
        <p:nvSpPr>
          <p:cNvPr id="5" name="Shape 3"/>
          <p:cNvSpPr/>
          <p:nvPr/>
        </p:nvSpPr>
        <p:spPr>
          <a:xfrm>
            <a:off x="3291840" y="4206240"/>
            <a:ext cx="-2191100" cy="494447"/>
          </a:xfrm>
          <a:prstGeom prst="line">
            <a:avLst/>
          </a:prstGeom>
          <a:noFill/>
          <a:ln w="19050">
            <a:solidFill>
              <a:srgbClr val="4A6FA5"/>
            </a:solidFill>
            <a:prstDash val="solid"/>
          </a:ln>
        </p:spPr>
      </p:sp>
      <p:sp>
        <p:nvSpPr>
          <p:cNvPr id="6" name="Shape 4"/>
          <p:cNvSpPr/>
          <p:nvPr/>
        </p:nvSpPr>
        <p:spPr>
          <a:xfrm>
            <a:off x="3291840" y="4206240"/>
            <a:ext cx="-2019329" cy="-722833"/>
          </a:xfrm>
          <a:prstGeom prst="line">
            <a:avLst/>
          </a:prstGeom>
          <a:noFill/>
          <a:ln w="19050">
            <a:solidFill>
              <a:srgbClr val="4A6FA5"/>
            </a:solidFill>
            <a:prstDash val="solid"/>
          </a:ln>
        </p:spPr>
      </p:sp>
      <p:sp>
        <p:nvSpPr>
          <p:cNvPr id="7" name="Shape 5"/>
          <p:cNvSpPr/>
          <p:nvPr/>
        </p:nvSpPr>
        <p:spPr>
          <a:xfrm>
            <a:off x="3291840" y="4206240"/>
            <a:ext cx="-404899" cy="-1423703"/>
          </a:xfrm>
          <a:prstGeom prst="line">
            <a:avLst/>
          </a:prstGeom>
          <a:noFill/>
          <a:ln w="19050">
            <a:solidFill>
              <a:srgbClr val="4A6FA5"/>
            </a:solidFill>
            <a:prstDash val="solid"/>
          </a:ln>
        </p:spPr>
      </p:sp>
      <p:sp>
        <p:nvSpPr>
          <p:cNvPr id="8" name="Shape 6"/>
          <p:cNvSpPr/>
          <p:nvPr/>
        </p:nvSpPr>
        <p:spPr>
          <a:xfrm>
            <a:off x="3291840" y="4206240"/>
            <a:ext cx="1498801" cy="-1107445"/>
          </a:xfrm>
          <a:prstGeom prst="line">
            <a:avLst/>
          </a:prstGeom>
          <a:noFill/>
          <a:ln w="19050">
            <a:solidFill>
              <a:srgbClr val="4A6FA5"/>
            </a:solidFill>
            <a:prstDash val="solid"/>
          </a:ln>
        </p:spPr>
      </p:sp>
      <p:sp>
        <p:nvSpPr>
          <p:cNvPr id="9" name="Shape 7"/>
          <p:cNvSpPr/>
          <p:nvPr/>
        </p:nvSpPr>
        <p:spPr>
          <a:xfrm>
            <a:off x="3291840" y="4206240"/>
            <a:ext cx="2331720" cy="0"/>
          </a:xfrm>
          <a:prstGeom prst="line">
            <a:avLst/>
          </a:prstGeom>
          <a:noFill/>
          <a:ln w="19050">
            <a:solidFill>
              <a:srgbClr val="4A6FA5"/>
            </a:solidFill>
            <a:prstDash val="solid"/>
          </a:ln>
        </p:spPr>
      </p:sp>
      <p:sp>
        <p:nvSpPr>
          <p:cNvPr id="10" name="Shape 8"/>
          <p:cNvSpPr/>
          <p:nvPr/>
        </p:nvSpPr>
        <p:spPr>
          <a:xfrm>
            <a:off x="2697480" y="3611880"/>
            <a:ext cx="1188720" cy="1188720"/>
          </a:xfrm>
          <a:prstGeom prst="ellipse">
            <a:avLst/>
          </a:prstGeom>
          <a:solidFill>
            <a:srgbClr val="FFB703"/>
          </a:solidFill>
          <a:ln/>
        </p:spPr>
      </p:sp>
      <p:pic>
        <p:nvPicPr>
          <p:cNvPr id="11" name="Image 0" descr="icons/car_navy.png">    </p:cNvPr>
          <p:cNvPicPr>
            <a:picLocks noChangeAspect="1"/>
          </p:cNvPicPr>
          <p:nvPr/>
        </p:nvPicPr>
        <p:blipFill>
          <a:blip r:embed="rId1"/>
          <a:stretch>
            <a:fillRect/>
          </a:stretch>
        </p:blipFill>
        <p:spPr>
          <a:xfrm>
            <a:off x="2971800" y="3749040"/>
            <a:ext cx="640080" cy="640080"/>
          </a:xfrm>
          <a:prstGeom prst="rect">
            <a:avLst/>
          </a:prstGeom>
        </p:spPr>
      </p:pic>
      <p:sp>
        <p:nvSpPr>
          <p:cNvPr id="12" name="Text 9"/>
          <p:cNvSpPr/>
          <p:nvPr/>
        </p:nvSpPr>
        <p:spPr>
          <a:xfrm>
            <a:off x="2468880" y="4828032"/>
            <a:ext cx="16459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Vehicle</a:t>
            </a:r>
            <a:endParaRPr lang="en-US" sz="1150" dirty="0"/>
          </a:p>
        </p:txBody>
      </p:sp>
      <p:sp>
        <p:nvSpPr>
          <p:cNvPr id="13" name="Shape 10"/>
          <p:cNvSpPr/>
          <p:nvPr/>
        </p:nvSpPr>
        <p:spPr>
          <a:xfrm>
            <a:off x="716692" y="4316639"/>
            <a:ext cx="768096" cy="768096"/>
          </a:xfrm>
          <a:prstGeom prst="ellipse">
            <a:avLst/>
          </a:prstGeom>
          <a:solidFill>
            <a:srgbClr val="FFFFFF"/>
          </a:solidFill>
          <a:ln/>
        </p:spPr>
      </p:sp>
      <p:pic>
        <p:nvPicPr>
          <p:cNvPr id="14" name="Image 1" descr="icons/moto_navy.png">    </p:cNvPr>
          <p:cNvPicPr>
            <a:picLocks noChangeAspect="1"/>
          </p:cNvPicPr>
          <p:nvPr/>
        </p:nvPicPr>
        <p:blipFill>
          <a:blip r:embed="rId2"/>
          <a:stretch>
            <a:fillRect/>
          </a:stretch>
        </p:blipFill>
        <p:spPr>
          <a:xfrm>
            <a:off x="890428" y="4490375"/>
            <a:ext cx="420624" cy="420624"/>
          </a:xfrm>
          <a:prstGeom prst="rect">
            <a:avLst/>
          </a:prstGeom>
        </p:spPr>
      </p:pic>
      <p:sp>
        <p:nvSpPr>
          <p:cNvPr id="15" name="Text 11"/>
          <p:cNvSpPr/>
          <p:nvPr/>
        </p:nvSpPr>
        <p:spPr>
          <a:xfrm>
            <a:off x="277780" y="5121311"/>
            <a:ext cx="1645920" cy="274320"/>
          </a:xfrm>
          <a:prstGeom prst="rect">
            <a:avLst/>
          </a:prstGeom>
          <a:noFill/>
          <a:ln/>
        </p:spPr>
        <p:txBody>
          <a:bodyPr wrap="square" lIns="0" tIns="0" rIns="0" bIns="0" rtlCol="0" anchor="ctr"/>
          <a:lstStyle/>
          <a:p>
            <a:pPr algn="ctr" indent="0" marL="0">
              <a:buNone/>
            </a:pPr>
            <a:r>
              <a:rPr lang="en-US" sz="1050" b="1" dirty="0">
                <a:solidFill>
                  <a:srgbClr val="DCE7F5"/>
                </a:solidFill>
                <a:latin typeface="Calibri" pitchFamily="34" charset="0"/>
                <a:ea typeface="Calibri" pitchFamily="34" charset="-122"/>
                <a:cs typeface="Calibri" pitchFamily="34" charset="-120"/>
              </a:rPr>
              <a:t>Rider</a:t>
            </a:r>
            <a:endParaRPr lang="en-US" sz="1050" dirty="0"/>
          </a:p>
        </p:txBody>
      </p:sp>
      <p:sp>
        <p:nvSpPr>
          <p:cNvPr id="16" name="Shape 12"/>
          <p:cNvSpPr/>
          <p:nvPr/>
        </p:nvSpPr>
        <p:spPr>
          <a:xfrm>
            <a:off x="888463" y="3099359"/>
            <a:ext cx="768096" cy="768096"/>
          </a:xfrm>
          <a:prstGeom prst="ellipse">
            <a:avLst/>
          </a:prstGeom>
          <a:solidFill>
            <a:srgbClr val="FFFFFF"/>
          </a:solidFill>
          <a:ln/>
        </p:spPr>
      </p:sp>
      <p:pic>
        <p:nvPicPr>
          <p:cNvPr id="17" name="Image 2" descr="icons/road_navy.png">    </p:cNvPr>
          <p:cNvPicPr>
            <a:picLocks noChangeAspect="1"/>
          </p:cNvPicPr>
          <p:nvPr/>
        </p:nvPicPr>
        <p:blipFill>
          <a:blip r:embed="rId3"/>
          <a:stretch>
            <a:fillRect/>
          </a:stretch>
        </p:blipFill>
        <p:spPr>
          <a:xfrm>
            <a:off x="1062199" y="3273095"/>
            <a:ext cx="420624" cy="420624"/>
          </a:xfrm>
          <a:prstGeom prst="rect">
            <a:avLst/>
          </a:prstGeom>
        </p:spPr>
      </p:pic>
      <p:sp>
        <p:nvSpPr>
          <p:cNvPr id="18" name="Text 13"/>
          <p:cNvSpPr/>
          <p:nvPr/>
        </p:nvSpPr>
        <p:spPr>
          <a:xfrm>
            <a:off x="449551" y="3904031"/>
            <a:ext cx="1645920" cy="274320"/>
          </a:xfrm>
          <a:prstGeom prst="rect">
            <a:avLst/>
          </a:prstGeom>
          <a:noFill/>
          <a:ln/>
        </p:spPr>
        <p:txBody>
          <a:bodyPr wrap="square" lIns="0" tIns="0" rIns="0" bIns="0" rtlCol="0" anchor="ctr"/>
          <a:lstStyle/>
          <a:p>
            <a:pPr algn="ctr" indent="0" marL="0">
              <a:buNone/>
            </a:pPr>
            <a:r>
              <a:rPr lang="en-US" sz="1050" b="1" dirty="0">
                <a:solidFill>
                  <a:srgbClr val="DCE7F5"/>
                </a:solidFill>
                <a:latin typeface="Calibri" pitchFamily="34" charset="0"/>
                <a:ea typeface="Calibri" pitchFamily="34" charset="-122"/>
                <a:cs typeface="Calibri" pitchFamily="34" charset="-120"/>
              </a:rPr>
              <a:t>Lane</a:t>
            </a:r>
            <a:endParaRPr lang="en-US" sz="1050" dirty="0"/>
          </a:p>
        </p:txBody>
      </p:sp>
      <p:sp>
        <p:nvSpPr>
          <p:cNvPr id="19" name="Shape 14"/>
          <p:cNvSpPr/>
          <p:nvPr/>
        </p:nvSpPr>
        <p:spPr>
          <a:xfrm>
            <a:off x="2502893" y="2398489"/>
            <a:ext cx="768096" cy="768096"/>
          </a:xfrm>
          <a:prstGeom prst="ellipse">
            <a:avLst/>
          </a:prstGeom>
          <a:solidFill>
            <a:srgbClr val="FFFFFF"/>
          </a:solidFill>
          <a:ln/>
        </p:spPr>
      </p:sp>
      <p:pic>
        <p:nvPicPr>
          <p:cNvPr id="20" name="Image 3" descr="icons/ban_navy.png">    </p:cNvPr>
          <p:cNvPicPr>
            <a:picLocks noChangeAspect="1"/>
          </p:cNvPicPr>
          <p:nvPr/>
        </p:nvPicPr>
        <p:blipFill>
          <a:blip r:embed="rId4"/>
          <a:stretch>
            <a:fillRect/>
          </a:stretch>
        </p:blipFill>
        <p:spPr>
          <a:xfrm>
            <a:off x="2676629" y="2572225"/>
            <a:ext cx="420624" cy="420624"/>
          </a:xfrm>
          <a:prstGeom prst="rect">
            <a:avLst/>
          </a:prstGeom>
        </p:spPr>
      </p:pic>
      <p:sp>
        <p:nvSpPr>
          <p:cNvPr id="21" name="Text 15"/>
          <p:cNvSpPr/>
          <p:nvPr/>
        </p:nvSpPr>
        <p:spPr>
          <a:xfrm>
            <a:off x="2063981" y="3203161"/>
            <a:ext cx="1645920" cy="274320"/>
          </a:xfrm>
          <a:prstGeom prst="rect">
            <a:avLst/>
          </a:prstGeom>
          <a:noFill/>
          <a:ln/>
        </p:spPr>
        <p:txBody>
          <a:bodyPr wrap="square" lIns="0" tIns="0" rIns="0" bIns="0" rtlCol="0" anchor="ctr"/>
          <a:lstStyle/>
          <a:p>
            <a:pPr algn="ctr" indent="0" marL="0">
              <a:buNone/>
            </a:pPr>
            <a:r>
              <a:rPr lang="en-US" sz="1050" b="1" dirty="0">
                <a:solidFill>
                  <a:srgbClr val="DCE7F5"/>
                </a:solidFill>
                <a:latin typeface="Calibri" pitchFamily="34" charset="0"/>
                <a:ea typeface="Calibri" pitchFamily="34" charset="-122"/>
                <a:cs typeface="Calibri" pitchFamily="34" charset="-120"/>
              </a:rPr>
              <a:t>Stop Line</a:t>
            </a:r>
            <a:endParaRPr lang="en-US" sz="1050" dirty="0"/>
          </a:p>
        </p:txBody>
      </p:sp>
      <p:sp>
        <p:nvSpPr>
          <p:cNvPr id="22" name="Shape 16"/>
          <p:cNvSpPr/>
          <p:nvPr/>
        </p:nvSpPr>
        <p:spPr>
          <a:xfrm>
            <a:off x="4406593" y="2714747"/>
            <a:ext cx="768096" cy="768096"/>
          </a:xfrm>
          <a:prstGeom prst="ellipse">
            <a:avLst/>
          </a:prstGeom>
          <a:solidFill>
            <a:srgbClr val="FFFFFF"/>
          </a:solidFill>
          <a:ln/>
        </p:spPr>
      </p:sp>
      <p:pic>
        <p:nvPicPr>
          <p:cNvPr id="23" name="Image 4" descr="icons/light_navy.png">    </p:cNvPr>
          <p:cNvPicPr>
            <a:picLocks noChangeAspect="1"/>
          </p:cNvPicPr>
          <p:nvPr/>
        </p:nvPicPr>
        <p:blipFill>
          <a:blip r:embed="rId5"/>
          <a:stretch>
            <a:fillRect/>
          </a:stretch>
        </p:blipFill>
        <p:spPr>
          <a:xfrm>
            <a:off x="4580329" y="2888483"/>
            <a:ext cx="420624" cy="420624"/>
          </a:xfrm>
          <a:prstGeom prst="rect">
            <a:avLst/>
          </a:prstGeom>
        </p:spPr>
      </p:pic>
      <p:sp>
        <p:nvSpPr>
          <p:cNvPr id="24" name="Text 17"/>
          <p:cNvSpPr/>
          <p:nvPr/>
        </p:nvSpPr>
        <p:spPr>
          <a:xfrm>
            <a:off x="3967681" y="3519419"/>
            <a:ext cx="1645920" cy="274320"/>
          </a:xfrm>
          <a:prstGeom prst="rect">
            <a:avLst/>
          </a:prstGeom>
          <a:noFill/>
          <a:ln/>
        </p:spPr>
        <p:txBody>
          <a:bodyPr wrap="square" lIns="0" tIns="0" rIns="0" bIns="0" rtlCol="0" anchor="ctr"/>
          <a:lstStyle/>
          <a:p>
            <a:pPr algn="ctr" indent="0" marL="0">
              <a:buNone/>
            </a:pPr>
            <a:r>
              <a:rPr lang="en-US" sz="1050" b="1" dirty="0">
                <a:solidFill>
                  <a:srgbClr val="DCE7F5"/>
                </a:solidFill>
                <a:latin typeface="Calibri" pitchFamily="34" charset="0"/>
                <a:ea typeface="Calibri" pitchFamily="34" charset="-122"/>
                <a:cs typeface="Calibri" pitchFamily="34" charset="-120"/>
              </a:rPr>
              <a:t>Traffic Signal</a:t>
            </a:r>
            <a:endParaRPr lang="en-US" sz="1050" dirty="0"/>
          </a:p>
        </p:txBody>
      </p:sp>
      <p:sp>
        <p:nvSpPr>
          <p:cNvPr id="25" name="Shape 18"/>
          <p:cNvSpPr/>
          <p:nvPr/>
        </p:nvSpPr>
        <p:spPr>
          <a:xfrm>
            <a:off x="5239512" y="3822192"/>
            <a:ext cx="768096" cy="768096"/>
          </a:xfrm>
          <a:prstGeom prst="ellipse">
            <a:avLst/>
          </a:prstGeom>
          <a:solidFill>
            <a:srgbClr val="FFFFFF"/>
          </a:solidFill>
          <a:ln/>
        </p:spPr>
      </p:sp>
      <p:pic>
        <p:nvPicPr>
          <p:cNvPr id="26" name="Image 5" descr="icons/clock_navy.png">    </p:cNvPr>
          <p:cNvPicPr>
            <a:picLocks noChangeAspect="1"/>
          </p:cNvPicPr>
          <p:nvPr/>
        </p:nvPicPr>
        <p:blipFill>
          <a:blip r:embed="rId6"/>
          <a:stretch>
            <a:fillRect/>
          </a:stretch>
        </p:blipFill>
        <p:spPr>
          <a:xfrm>
            <a:off x="5413248" y="3995928"/>
            <a:ext cx="420624" cy="420624"/>
          </a:xfrm>
          <a:prstGeom prst="rect">
            <a:avLst/>
          </a:prstGeom>
        </p:spPr>
      </p:pic>
      <p:sp>
        <p:nvSpPr>
          <p:cNvPr id="27" name="Text 19"/>
          <p:cNvSpPr/>
          <p:nvPr/>
        </p:nvSpPr>
        <p:spPr>
          <a:xfrm>
            <a:off x="4800600" y="4626864"/>
            <a:ext cx="1645920" cy="274320"/>
          </a:xfrm>
          <a:prstGeom prst="rect">
            <a:avLst/>
          </a:prstGeom>
          <a:noFill/>
          <a:ln/>
        </p:spPr>
        <p:txBody>
          <a:bodyPr wrap="square" lIns="0" tIns="0" rIns="0" bIns="0" rtlCol="0" anchor="ctr"/>
          <a:lstStyle/>
          <a:p>
            <a:pPr algn="ctr" indent="0" marL="0">
              <a:buNone/>
            </a:pPr>
            <a:r>
              <a:rPr lang="en-US" sz="1050" b="1" dirty="0">
                <a:solidFill>
                  <a:srgbClr val="DCE7F5"/>
                </a:solidFill>
                <a:latin typeface="Calibri" pitchFamily="34" charset="0"/>
                <a:ea typeface="Calibri" pitchFamily="34" charset="-122"/>
                <a:cs typeface="Calibri" pitchFamily="34" charset="-120"/>
              </a:rPr>
              <a:t>Parking Zone</a:t>
            </a:r>
            <a:endParaRPr lang="en-US" sz="1050" dirty="0"/>
          </a:p>
        </p:txBody>
      </p:sp>
      <p:sp>
        <p:nvSpPr>
          <p:cNvPr id="28" name="Shape 20"/>
          <p:cNvSpPr/>
          <p:nvPr/>
        </p:nvSpPr>
        <p:spPr>
          <a:xfrm>
            <a:off x="7406640" y="1737360"/>
            <a:ext cx="4206240" cy="4206240"/>
          </a:xfrm>
          <a:prstGeom prst="roundRect">
            <a:avLst>
              <a:gd name="adj" fmla="val 2174"/>
            </a:avLst>
          </a:prstGeom>
          <a:solidFill>
            <a:srgbClr val="071A33"/>
          </a:solidFill>
          <a:ln/>
        </p:spPr>
      </p:sp>
      <p:sp>
        <p:nvSpPr>
          <p:cNvPr id="29" name="Text 21"/>
          <p:cNvSpPr/>
          <p:nvPr/>
        </p:nvSpPr>
        <p:spPr>
          <a:xfrm>
            <a:off x="7726680" y="1965960"/>
            <a:ext cx="3657600" cy="365760"/>
          </a:xfrm>
          <a:prstGeom prst="rect">
            <a:avLst/>
          </a:prstGeom>
          <a:noFill/>
          <a:ln/>
        </p:spPr>
        <p:txBody>
          <a:bodyPr wrap="square" lIns="0" tIns="0" rIns="0" bIns="0"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The graph reasons jointly over:</a:t>
            </a:r>
            <a:endParaRPr lang="en-US" sz="1300" dirty="0"/>
          </a:p>
        </p:txBody>
      </p:sp>
      <p:sp>
        <p:nvSpPr>
          <p:cNvPr id="30" name="Text 22"/>
          <p:cNvSpPr/>
          <p:nvPr/>
        </p:nvSpPr>
        <p:spPr>
          <a:xfrm>
            <a:off x="7955280" y="2423160"/>
            <a:ext cx="3657600" cy="411480"/>
          </a:xfrm>
          <a:prstGeom prst="rect">
            <a:avLst/>
          </a:prstGeom>
          <a:noFill/>
          <a:ln/>
        </p:spPr>
        <p:txBody>
          <a:bodyPr wrap="square" lIns="0" tIns="0" rIns="0" bIns="0" rtlCol="0" anchor="ctr"/>
          <a:lstStyle/>
          <a:p>
            <a:pPr marL="342900" indent="-342900">
              <a:buSzPct val="100000"/>
              <a:buChar char="✓"/>
            </a:pPr>
            <a:r>
              <a:rPr lang="en-US" sz="1400" dirty="0">
                <a:solidFill>
                  <a:srgbClr val="FFB703"/>
                </a:solidFill>
                <a:latin typeface="Calibri" pitchFamily="34" charset="0"/>
                <a:ea typeface="Calibri" pitchFamily="34" charset="-122"/>
                <a:cs typeface="Calibri" pitchFamily="34" charset="-120"/>
              </a:rPr>
              <a:t>Violation Type</a:t>
            </a:r>
            <a:endParaRPr lang="en-US" sz="1400" dirty="0"/>
          </a:p>
        </p:txBody>
      </p:sp>
      <p:sp>
        <p:nvSpPr>
          <p:cNvPr id="31" name="Text 23"/>
          <p:cNvSpPr/>
          <p:nvPr/>
        </p:nvSpPr>
        <p:spPr>
          <a:xfrm>
            <a:off x="7955280" y="2926080"/>
            <a:ext cx="3657600" cy="411480"/>
          </a:xfrm>
          <a:prstGeom prst="rect">
            <a:avLst/>
          </a:prstGeom>
          <a:noFill/>
          <a:ln/>
        </p:spPr>
        <p:txBody>
          <a:bodyPr wrap="square" lIns="0" tIns="0" rIns="0" bIns="0" rtlCol="0" anchor="ctr"/>
          <a:lstStyle/>
          <a:p>
            <a:pPr marL="342900" indent="-342900">
              <a:buSzPct val="100000"/>
              <a:buChar char="✓"/>
            </a:pPr>
            <a:r>
              <a:rPr lang="en-US" sz="1400" dirty="0">
                <a:solidFill>
                  <a:srgbClr val="FFB703"/>
                </a:solidFill>
                <a:latin typeface="Calibri" pitchFamily="34" charset="0"/>
                <a:ea typeface="Calibri" pitchFamily="34" charset="-122"/>
                <a:cs typeface="Calibri" pitchFamily="34" charset="-120"/>
              </a:rPr>
              <a:t>Violation Severity</a:t>
            </a:r>
            <a:endParaRPr lang="en-US" sz="1400" dirty="0"/>
          </a:p>
        </p:txBody>
      </p:sp>
      <p:sp>
        <p:nvSpPr>
          <p:cNvPr id="32" name="Text 24"/>
          <p:cNvSpPr/>
          <p:nvPr/>
        </p:nvSpPr>
        <p:spPr>
          <a:xfrm>
            <a:off x="7955280" y="3429000"/>
            <a:ext cx="3657600" cy="411480"/>
          </a:xfrm>
          <a:prstGeom prst="rect">
            <a:avLst/>
          </a:prstGeom>
          <a:noFill/>
          <a:ln/>
        </p:spPr>
        <p:txBody>
          <a:bodyPr wrap="square" lIns="0" tIns="0" rIns="0" bIns="0" rtlCol="0" anchor="ctr"/>
          <a:lstStyle/>
          <a:p>
            <a:pPr marL="342900" indent="-342900">
              <a:buSzPct val="100000"/>
              <a:buChar char="✓"/>
            </a:pPr>
            <a:r>
              <a:rPr lang="en-US" sz="1400" dirty="0">
                <a:solidFill>
                  <a:srgbClr val="FFB703"/>
                </a:solidFill>
                <a:latin typeface="Calibri" pitchFamily="34" charset="0"/>
                <a:ea typeface="Calibri" pitchFamily="34" charset="-122"/>
                <a:cs typeface="Calibri" pitchFamily="34" charset="-120"/>
              </a:rPr>
              <a:t>Confidence Score</a:t>
            </a:r>
            <a:endParaRPr lang="en-US" sz="1400" dirty="0"/>
          </a:p>
        </p:txBody>
      </p:sp>
      <p:sp>
        <p:nvSpPr>
          <p:cNvPr id="33" name="Text 25"/>
          <p:cNvSpPr/>
          <p:nvPr/>
        </p:nvSpPr>
        <p:spPr>
          <a:xfrm>
            <a:off x="7726680" y="4160520"/>
            <a:ext cx="3657600" cy="1554480"/>
          </a:xfrm>
          <a:prstGeom prst="rect">
            <a:avLst/>
          </a:prstGeom>
          <a:noFill/>
          <a:ln/>
        </p:spPr>
        <p:txBody>
          <a:bodyPr wrap="square" lIns="0" tIns="0" rIns="0" bIns="0" rtlCol="0" anchor="ctr"/>
          <a:lstStyle/>
          <a:p>
            <a:pPr indent="0" marL="0">
              <a:lnSpc>
                <a:spcPct val="130000"/>
              </a:lnSpc>
              <a:buNone/>
            </a:pPr>
            <a:r>
              <a:rPr lang="en-US" sz="1200" dirty="0">
                <a:solidFill>
                  <a:srgbClr val="DCE7F5"/>
                </a:solidFill>
                <a:latin typeface="Calibri" pitchFamily="34" charset="0"/>
                <a:ea typeface="Calibri" pitchFamily="34" charset="-122"/>
                <a:cs typeface="Calibri" pitchFamily="34" charset="-120"/>
              </a:rPr>
              <a:t>By analyzing spatial and temporal relationships between every entity in the scene — not isolated bounding boxes — the engine produces context-aware, defensible violation calls.</a:t>
            </a:r>
            <a:endParaRPr lang="en-US" sz="1200" dirty="0"/>
          </a:p>
        </p:txBody>
      </p:sp>
      <p:sp>
        <p:nvSpPr>
          <p:cNvPr id="34" name="Text 2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B"/>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35" name="Text 2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8FA9C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Stage 9 · License Plate Recognition</a:t>
            </a:r>
            <a:endParaRPr lang="en-US" sz="2800" dirty="0"/>
          </a:p>
        </p:txBody>
      </p:sp>
      <p:sp>
        <p:nvSpPr>
          <p:cNvPr id="3" name="Text 1"/>
          <p:cNvSpPr/>
          <p:nvPr/>
        </p:nvSpPr>
        <p:spPr>
          <a:xfrm>
            <a:off x="548640" y="1005840"/>
            <a:ext cx="10515600" cy="365760"/>
          </a:xfrm>
          <a:prstGeom prst="rect">
            <a:avLst/>
          </a:prstGeom>
          <a:noFill/>
          <a:ln/>
        </p:spPr>
        <p:txBody>
          <a:bodyPr wrap="square" lIns="0" tIns="0" rIns="0" bIns="0" rtlCol="0" anchor="ctr"/>
          <a:lstStyle/>
          <a:p>
            <a:pPr indent="0" marL="0">
              <a:buNone/>
            </a:pPr>
            <a:r>
              <a:rPr lang="en-US" sz="1350" dirty="0">
                <a:solidFill>
                  <a:srgbClr val="5B6B85"/>
                </a:solidFill>
                <a:latin typeface="Calibri" pitchFamily="34" charset="0"/>
                <a:ea typeface="Calibri" pitchFamily="34" charset="-122"/>
                <a:cs typeface="Calibri" pitchFamily="34" charset="-120"/>
              </a:rPr>
              <a:t>Triggered only when a violation is detected — saving compute on the vast majority of compliant traffic.</a:t>
            </a:r>
            <a:endParaRPr lang="en-US" sz="1350" dirty="0"/>
          </a:p>
        </p:txBody>
      </p:sp>
      <p:sp>
        <p:nvSpPr>
          <p:cNvPr id="4" name="Shape 2"/>
          <p:cNvSpPr/>
          <p:nvPr/>
        </p:nvSpPr>
        <p:spPr>
          <a:xfrm>
            <a:off x="548640" y="1691640"/>
            <a:ext cx="3520440" cy="3291840"/>
          </a:xfrm>
          <a:prstGeom prst="roundRect">
            <a:avLst>
              <a:gd name="adj" fmla="val 2222"/>
            </a:avLst>
          </a:prstGeom>
          <a:solidFill>
            <a:srgbClr val="F7F9FC"/>
          </a:solidFill>
          <a:ln/>
          <a:effectLst>
            <a:outerShdw sx="100000" sy="100000" kx="0" ky="0" algn="bl" rotWithShape="0" blurRad="101600" dist="38100" dir="2700000">
              <a:srgbClr val="000000">
                <a:alpha val="12000"/>
              </a:srgbClr>
            </a:outerShdw>
          </a:effectLst>
        </p:spPr>
      </p:sp>
      <p:sp>
        <p:nvSpPr>
          <p:cNvPr id="5" name="Shape 3"/>
          <p:cNvSpPr/>
          <p:nvPr/>
        </p:nvSpPr>
        <p:spPr>
          <a:xfrm>
            <a:off x="1988820" y="2011680"/>
            <a:ext cx="640080" cy="640080"/>
          </a:xfrm>
          <a:prstGeom prst="ellipse">
            <a:avLst/>
          </a:prstGeom>
          <a:solidFill>
            <a:srgbClr val="0B2545"/>
          </a:solidFill>
          <a:ln/>
        </p:spPr>
      </p:sp>
      <p:pic>
        <p:nvPicPr>
          <p:cNvPr id="6" name="Image 0" descr="icons/idcard_white.png">    </p:cNvPr>
          <p:cNvPicPr>
            <a:picLocks noChangeAspect="1"/>
          </p:cNvPicPr>
          <p:nvPr/>
        </p:nvPicPr>
        <p:blipFill>
          <a:blip r:embed="rId1"/>
          <a:stretch>
            <a:fillRect/>
          </a:stretch>
        </p:blipFill>
        <p:spPr>
          <a:xfrm>
            <a:off x="2148840" y="2171700"/>
            <a:ext cx="320040" cy="320040"/>
          </a:xfrm>
          <a:prstGeom prst="rect">
            <a:avLst/>
          </a:prstGeom>
        </p:spPr>
      </p:pic>
      <p:sp>
        <p:nvSpPr>
          <p:cNvPr id="7" name="Text 4"/>
          <p:cNvSpPr/>
          <p:nvPr/>
        </p:nvSpPr>
        <p:spPr>
          <a:xfrm>
            <a:off x="777240" y="2926080"/>
            <a:ext cx="30632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1 · Detect</a:t>
            </a:r>
            <a:endParaRPr lang="en-US" sz="1500" dirty="0"/>
          </a:p>
        </p:txBody>
      </p:sp>
      <p:sp>
        <p:nvSpPr>
          <p:cNvPr id="8" name="Text 5"/>
          <p:cNvSpPr/>
          <p:nvPr/>
        </p:nvSpPr>
        <p:spPr>
          <a:xfrm>
            <a:off x="822960" y="3383280"/>
            <a:ext cx="2971800" cy="1463040"/>
          </a:xfrm>
          <a:prstGeom prst="rect">
            <a:avLst/>
          </a:prstGeom>
          <a:noFill/>
          <a:ln/>
        </p:spPr>
        <p:txBody>
          <a:bodyPr wrap="square" lIns="0" tIns="0" rIns="0" bIns="0" rtlCol="0" anchor="ctr"/>
          <a:lstStyle/>
          <a:p>
            <a:pPr algn="ctr" indent="0" marL="0">
              <a:lnSpc>
                <a:spcPct val="130000"/>
              </a:lnSpc>
              <a:buNone/>
            </a:pPr>
            <a:r>
              <a:rPr lang="en-US" sz="1200" dirty="0">
                <a:solidFill>
                  <a:srgbClr val="5B6B85"/>
                </a:solidFill>
                <a:latin typeface="Calibri" pitchFamily="34" charset="0"/>
                <a:ea typeface="Calibri" pitchFamily="34" charset="-122"/>
                <a:cs typeface="Calibri" pitchFamily="34" charset="-120"/>
              </a:rPr>
              <a:t>Locate plate region with YOLO</a:t>
            </a:r>
            <a:endParaRPr lang="en-US" sz="1200" dirty="0"/>
          </a:p>
        </p:txBody>
      </p:sp>
      <p:sp>
        <p:nvSpPr>
          <p:cNvPr id="9" name="Text 6"/>
          <p:cNvSpPr/>
          <p:nvPr/>
        </p:nvSpPr>
        <p:spPr>
          <a:xfrm>
            <a:off x="4069080" y="3017520"/>
            <a:ext cx="274320" cy="640080"/>
          </a:xfrm>
          <a:prstGeom prst="rect">
            <a:avLst/>
          </a:prstGeom>
          <a:noFill/>
          <a:ln/>
        </p:spPr>
        <p:txBody>
          <a:bodyPr wrap="square" lIns="0" tIns="0" rIns="0" bIns="0" rtlCol="0" anchor="ctr"/>
          <a:lstStyle/>
          <a:p>
            <a:pPr algn="ctr" indent="0" marL="0">
              <a:buNone/>
            </a:pPr>
            <a:r>
              <a:rPr lang="en-US" sz="2600" b="1" dirty="0">
                <a:solidFill>
                  <a:srgbClr val="FFB703"/>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4343400" y="1691640"/>
            <a:ext cx="3520440" cy="3291840"/>
          </a:xfrm>
          <a:prstGeom prst="roundRect">
            <a:avLst>
              <a:gd name="adj" fmla="val 2222"/>
            </a:avLst>
          </a:prstGeom>
          <a:solidFill>
            <a:srgbClr val="F7F9FC"/>
          </a:solidFill>
          <a:ln/>
          <a:effectLst>
            <a:outerShdw sx="100000" sy="100000" kx="0" ky="0" algn="bl" rotWithShape="0" blurRad="101600" dist="38100" dir="2700000">
              <a:srgbClr val="000000">
                <a:alpha val="12000"/>
              </a:srgbClr>
            </a:outerShdw>
          </a:effectLst>
        </p:spPr>
      </p:sp>
      <p:sp>
        <p:nvSpPr>
          <p:cNvPr id="11" name="Shape 8"/>
          <p:cNvSpPr/>
          <p:nvPr/>
        </p:nvSpPr>
        <p:spPr>
          <a:xfrm>
            <a:off x="5783580" y="2011680"/>
            <a:ext cx="640080" cy="640080"/>
          </a:xfrm>
          <a:prstGeom prst="ellipse">
            <a:avLst/>
          </a:prstGeom>
          <a:solidFill>
            <a:srgbClr val="0B2545"/>
          </a:solidFill>
          <a:ln/>
        </p:spPr>
      </p:sp>
      <p:pic>
        <p:nvPicPr>
          <p:cNvPr id="12" name="Image 1" descr="icons/cogs_white.png">    </p:cNvPr>
          <p:cNvPicPr>
            <a:picLocks noChangeAspect="1"/>
          </p:cNvPicPr>
          <p:nvPr/>
        </p:nvPicPr>
        <p:blipFill>
          <a:blip r:embed="rId2"/>
          <a:stretch>
            <a:fillRect/>
          </a:stretch>
        </p:blipFill>
        <p:spPr>
          <a:xfrm>
            <a:off x="5943600" y="2171700"/>
            <a:ext cx="320040" cy="320040"/>
          </a:xfrm>
          <a:prstGeom prst="rect">
            <a:avLst/>
          </a:prstGeom>
        </p:spPr>
      </p:pic>
      <p:sp>
        <p:nvSpPr>
          <p:cNvPr id="13" name="Text 9"/>
          <p:cNvSpPr/>
          <p:nvPr/>
        </p:nvSpPr>
        <p:spPr>
          <a:xfrm>
            <a:off x="4572000" y="2926080"/>
            <a:ext cx="30632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2 · Preprocess</a:t>
            </a:r>
            <a:endParaRPr lang="en-US" sz="1500" dirty="0"/>
          </a:p>
        </p:txBody>
      </p:sp>
      <p:sp>
        <p:nvSpPr>
          <p:cNvPr id="14" name="Text 10"/>
          <p:cNvSpPr/>
          <p:nvPr/>
        </p:nvSpPr>
        <p:spPr>
          <a:xfrm>
            <a:off x="4617720" y="3383280"/>
            <a:ext cx="2971800" cy="1463040"/>
          </a:xfrm>
          <a:prstGeom prst="rect">
            <a:avLst/>
          </a:prstGeom>
          <a:noFill/>
          <a:ln/>
        </p:spPr>
        <p:txBody>
          <a:bodyPr wrap="square" lIns="0" tIns="0" rIns="0" bIns="0" rtlCol="0" anchor="ctr"/>
          <a:lstStyle/>
          <a:p>
            <a:pPr algn="ctr" indent="0" marL="0">
              <a:lnSpc>
                <a:spcPct val="130000"/>
              </a:lnSpc>
              <a:buNone/>
            </a:pPr>
            <a:r>
              <a:rPr lang="en-US" sz="1200" dirty="0">
                <a:solidFill>
                  <a:srgbClr val="5B6B85"/>
                </a:solidFill>
                <a:latin typeface="Calibri" pitchFamily="34" charset="0"/>
                <a:ea typeface="Calibri" pitchFamily="34" charset="-122"/>
                <a:cs typeface="Calibri" pitchFamily="34" charset="-120"/>
              </a:rPr>
              <a:t>Crop, resize, grayscale, contrast enhance, denoise, threshold, perspective-correct, sharpen</a:t>
            </a:r>
            <a:endParaRPr lang="en-US" sz="1200" dirty="0"/>
          </a:p>
        </p:txBody>
      </p:sp>
      <p:sp>
        <p:nvSpPr>
          <p:cNvPr id="15" name="Text 11"/>
          <p:cNvSpPr/>
          <p:nvPr/>
        </p:nvSpPr>
        <p:spPr>
          <a:xfrm>
            <a:off x="7863840" y="3017520"/>
            <a:ext cx="274320" cy="640080"/>
          </a:xfrm>
          <a:prstGeom prst="rect">
            <a:avLst/>
          </a:prstGeom>
          <a:noFill/>
          <a:ln/>
        </p:spPr>
        <p:txBody>
          <a:bodyPr wrap="square" lIns="0" tIns="0" rIns="0" bIns="0" rtlCol="0" anchor="ctr"/>
          <a:lstStyle/>
          <a:p>
            <a:pPr algn="ctr" indent="0" marL="0">
              <a:buNone/>
            </a:pPr>
            <a:r>
              <a:rPr lang="en-US" sz="2600" b="1" dirty="0">
                <a:solidFill>
                  <a:srgbClr val="FFB703"/>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8138160" y="1691640"/>
            <a:ext cx="3520440" cy="3291840"/>
          </a:xfrm>
          <a:prstGeom prst="roundRect">
            <a:avLst>
              <a:gd name="adj" fmla="val 2222"/>
            </a:avLst>
          </a:prstGeom>
          <a:solidFill>
            <a:srgbClr val="F7F9FC"/>
          </a:solidFill>
          <a:ln/>
          <a:effectLst>
            <a:outerShdw sx="100000" sy="100000" kx="0" ky="0" algn="bl" rotWithShape="0" blurRad="101600" dist="38100" dir="2700000">
              <a:srgbClr val="000000">
                <a:alpha val="12000"/>
              </a:srgbClr>
            </a:outerShdw>
          </a:effectLst>
        </p:spPr>
      </p:sp>
      <p:sp>
        <p:nvSpPr>
          <p:cNvPr id="17" name="Shape 13"/>
          <p:cNvSpPr/>
          <p:nvPr/>
        </p:nvSpPr>
        <p:spPr>
          <a:xfrm>
            <a:off x="9578340" y="2011680"/>
            <a:ext cx="640080" cy="640080"/>
          </a:xfrm>
          <a:prstGeom prst="ellipse">
            <a:avLst/>
          </a:prstGeom>
          <a:solidFill>
            <a:srgbClr val="0B2545"/>
          </a:solidFill>
          <a:ln/>
        </p:spPr>
      </p:sp>
      <p:pic>
        <p:nvPicPr>
          <p:cNvPr id="18" name="Image 2" descr="icons/ocr_white.png">    </p:cNvPr>
          <p:cNvPicPr>
            <a:picLocks noChangeAspect="1"/>
          </p:cNvPicPr>
          <p:nvPr/>
        </p:nvPicPr>
        <p:blipFill>
          <a:blip r:embed="rId3"/>
          <a:stretch>
            <a:fillRect/>
          </a:stretch>
        </p:blipFill>
        <p:spPr>
          <a:xfrm>
            <a:off x="9738360" y="2171700"/>
            <a:ext cx="320040" cy="320040"/>
          </a:xfrm>
          <a:prstGeom prst="rect">
            <a:avLst/>
          </a:prstGeom>
        </p:spPr>
      </p:pic>
      <p:sp>
        <p:nvSpPr>
          <p:cNvPr id="19" name="Text 14"/>
          <p:cNvSpPr/>
          <p:nvPr/>
        </p:nvSpPr>
        <p:spPr>
          <a:xfrm>
            <a:off x="8366760" y="2926080"/>
            <a:ext cx="30632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3 · OCR</a:t>
            </a:r>
            <a:endParaRPr lang="en-US" sz="1500" dirty="0"/>
          </a:p>
        </p:txBody>
      </p:sp>
      <p:sp>
        <p:nvSpPr>
          <p:cNvPr id="20" name="Text 15"/>
          <p:cNvSpPr/>
          <p:nvPr/>
        </p:nvSpPr>
        <p:spPr>
          <a:xfrm>
            <a:off x="8412480" y="3383280"/>
            <a:ext cx="2971800" cy="1463040"/>
          </a:xfrm>
          <a:prstGeom prst="rect">
            <a:avLst/>
          </a:prstGeom>
          <a:noFill/>
          <a:ln/>
        </p:spPr>
        <p:txBody>
          <a:bodyPr wrap="square" lIns="0" tIns="0" rIns="0" bIns="0" rtlCol="0" anchor="ctr"/>
          <a:lstStyle/>
          <a:p>
            <a:pPr algn="ctr" indent="0" marL="0">
              <a:lnSpc>
                <a:spcPct val="130000"/>
              </a:lnSpc>
              <a:buNone/>
            </a:pPr>
            <a:r>
              <a:rPr lang="en-US" sz="1200" dirty="0">
                <a:solidFill>
                  <a:srgbClr val="5B6B85"/>
                </a:solidFill>
                <a:latin typeface="Calibri" pitchFamily="34" charset="0"/>
                <a:ea typeface="Calibri" pitchFamily="34" charset="-122"/>
                <a:cs typeface="Calibri" pitchFamily="34" charset="-120"/>
              </a:rPr>
              <a:t>PaddleOCR / EasyOCR extracts the registration number</a:t>
            </a:r>
            <a:endParaRPr lang="en-US" sz="1200" dirty="0"/>
          </a:p>
        </p:txBody>
      </p:sp>
      <p:sp>
        <p:nvSpPr>
          <p:cNvPr id="21" name="Text 1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22" name="Text 1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105156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Stage 10–13 · From Plate to Evidence Record</a:t>
            </a:r>
            <a:endParaRPr lang="en-US" sz="2800" dirty="0"/>
          </a:p>
        </p:txBody>
      </p:sp>
      <p:sp>
        <p:nvSpPr>
          <p:cNvPr id="3" name="Shape 1"/>
          <p:cNvSpPr/>
          <p:nvPr/>
        </p:nvSpPr>
        <p:spPr>
          <a:xfrm>
            <a:off x="548640" y="123444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4" name="Shape 2"/>
          <p:cNvSpPr/>
          <p:nvPr/>
        </p:nvSpPr>
        <p:spPr>
          <a:xfrm>
            <a:off x="800100" y="1485900"/>
            <a:ext cx="502920" cy="502920"/>
          </a:xfrm>
          <a:prstGeom prst="ellipse">
            <a:avLst/>
          </a:prstGeom>
          <a:solidFill>
            <a:srgbClr val="0B2545"/>
          </a:solidFill>
          <a:ln/>
        </p:spPr>
      </p:sp>
      <p:pic>
        <p:nvPicPr>
          <p:cNvPr id="5" name="Image 0" descr="icons/database_white.png">    </p:cNvPr>
          <p:cNvPicPr>
            <a:picLocks noChangeAspect="1"/>
          </p:cNvPicPr>
          <p:nvPr/>
        </p:nvPicPr>
        <p:blipFill>
          <a:blip r:embed="rId1"/>
          <a:stretch>
            <a:fillRect/>
          </a:stretch>
        </p:blipFill>
        <p:spPr>
          <a:xfrm>
            <a:off x="913257" y="1599057"/>
            <a:ext cx="276606" cy="276606"/>
          </a:xfrm>
          <a:prstGeom prst="rect">
            <a:avLst/>
          </a:prstGeom>
        </p:spPr>
      </p:pic>
      <p:sp>
        <p:nvSpPr>
          <p:cNvPr id="6" name="Text 3"/>
          <p:cNvSpPr/>
          <p:nvPr/>
        </p:nvSpPr>
        <p:spPr>
          <a:xfrm>
            <a:off x="1463040" y="146304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Vehicle Info Retrieval</a:t>
            </a:r>
            <a:endParaRPr lang="en-US" sz="1450" dirty="0"/>
          </a:p>
        </p:txBody>
      </p:sp>
      <p:sp>
        <p:nvSpPr>
          <p:cNvPr id="7" name="Text 4"/>
          <p:cNvSpPr/>
          <p:nvPr/>
        </p:nvSpPr>
        <p:spPr>
          <a:xfrm>
            <a:off x="868680" y="214884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Registration lookup returns vehicle type, registration details, and registered owner. Note: owner ≠ driver — that distinction cannot be resolved from a plate alone.</a:t>
            </a:r>
            <a:endParaRPr lang="en-US" sz="1100" dirty="0"/>
          </a:p>
        </p:txBody>
      </p:sp>
      <p:sp>
        <p:nvSpPr>
          <p:cNvPr id="8" name="Shape 5"/>
          <p:cNvSpPr/>
          <p:nvPr/>
        </p:nvSpPr>
        <p:spPr>
          <a:xfrm>
            <a:off x="6263640" y="123444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9" name="Shape 6"/>
          <p:cNvSpPr/>
          <p:nvPr/>
        </p:nvSpPr>
        <p:spPr>
          <a:xfrm>
            <a:off x="6515100" y="1485900"/>
            <a:ext cx="502920" cy="502920"/>
          </a:xfrm>
          <a:prstGeom prst="ellipse">
            <a:avLst/>
          </a:prstGeom>
          <a:solidFill>
            <a:srgbClr val="0B2545"/>
          </a:solidFill>
          <a:ln/>
        </p:spPr>
      </p:sp>
      <p:pic>
        <p:nvPicPr>
          <p:cNvPr id="10" name="Image 1" descr="icons/ban_white.png">    </p:cNvPr>
          <p:cNvPicPr>
            <a:picLocks noChangeAspect="1"/>
          </p:cNvPicPr>
          <p:nvPr/>
        </p:nvPicPr>
        <p:blipFill>
          <a:blip r:embed="rId2"/>
          <a:stretch>
            <a:fillRect/>
          </a:stretch>
        </p:blipFill>
        <p:spPr>
          <a:xfrm>
            <a:off x="6628257" y="1599057"/>
            <a:ext cx="276606" cy="276606"/>
          </a:xfrm>
          <a:prstGeom prst="rect">
            <a:avLst/>
          </a:prstGeom>
        </p:spPr>
      </p:pic>
      <p:sp>
        <p:nvSpPr>
          <p:cNvPr id="11" name="Text 7"/>
          <p:cNvSpPr/>
          <p:nvPr/>
        </p:nvSpPr>
        <p:spPr>
          <a:xfrm>
            <a:off x="7178040" y="146304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Duplicate Suppression</a:t>
            </a:r>
            <a:endParaRPr lang="en-US" sz="1450" dirty="0"/>
          </a:p>
        </p:txBody>
      </p:sp>
      <p:sp>
        <p:nvSpPr>
          <p:cNvPr id="12" name="Text 8"/>
          <p:cNvSpPr/>
          <p:nvPr/>
        </p:nvSpPr>
        <p:spPr>
          <a:xfrm>
            <a:off x="6583680" y="214884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Same vehicle + same violation type + same location within a time window → suppressed. Different violation types still get recorded independently.</a:t>
            </a:r>
            <a:endParaRPr lang="en-US" sz="1100" dirty="0"/>
          </a:p>
        </p:txBody>
      </p:sp>
      <p:sp>
        <p:nvSpPr>
          <p:cNvPr id="13" name="Shape 9"/>
          <p:cNvSpPr/>
          <p:nvPr/>
        </p:nvSpPr>
        <p:spPr>
          <a:xfrm>
            <a:off x="548640" y="370332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14" name="Shape 10"/>
          <p:cNvSpPr/>
          <p:nvPr/>
        </p:nvSpPr>
        <p:spPr>
          <a:xfrm>
            <a:off x="800100" y="3954780"/>
            <a:ext cx="502920" cy="502920"/>
          </a:xfrm>
          <a:prstGeom prst="ellipse">
            <a:avLst/>
          </a:prstGeom>
          <a:solidFill>
            <a:srgbClr val="0B2545"/>
          </a:solidFill>
          <a:ln/>
        </p:spPr>
      </p:sp>
      <p:pic>
        <p:nvPicPr>
          <p:cNvPr id="15" name="Image 2" descr="icons/file_white.png">    </p:cNvPr>
          <p:cNvPicPr>
            <a:picLocks noChangeAspect="1"/>
          </p:cNvPicPr>
          <p:nvPr/>
        </p:nvPicPr>
        <p:blipFill>
          <a:blip r:embed="rId3"/>
          <a:stretch>
            <a:fillRect/>
          </a:stretch>
        </p:blipFill>
        <p:spPr>
          <a:xfrm>
            <a:off x="913257" y="4067937"/>
            <a:ext cx="276606" cy="276606"/>
          </a:xfrm>
          <a:prstGeom prst="rect">
            <a:avLst/>
          </a:prstGeom>
        </p:spPr>
      </p:pic>
      <p:sp>
        <p:nvSpPr>
          <p:cNvPr id="16" name="Text 11"/>
          <p:cNvSpPr/>
          <p:nvPr/>
        </p:nvSpPr>
        <p:spPr>
          <a:xfrm>
            <a:off x="1463040" y="393192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Evidence Generation</a:t>
            </a:r>
            <a:endParaRPr lang="en-US" sz="1450" dirty="0"/>
          </a:p>
        </p:txBody>
      </p:sp>
      <p:sp>
        <p:nvSpPr>
          <p:cNvPr id="17" name="Text 12"/>
          <p:cNvSpPr/>
          <p:nvPr/>
        </p:nvSpPr>
        <p:spPr>
          <a:xfrm>
            <a:off x="868680" y="461772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Annotated image with vehicle box, rider/driver box, plate, violation type, confidence, timestamp, camera ID, and location.</a:t>
            </a:r>
            <a:endParaRPr lang="en-US" sz="1100" dirty="0"/>
          </a:p>
        </p:txBody>
      </p:sp>
      <p:sp>
        <p:nvSpPr>
          <p:cNvPr id="18" name="Shape 13"/>
          <p:cNvSpPr/>
          <p:nvPr/>
        </p:nvSpPr>
        <p:spPr>
          <a:xfrm>
            <a:off x="6263640" y="3703320"/>
            <a:ext cx="53492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19" name="Shape 14"/>
          <p:cNvSpPr/>
          <p:nvPr/>
        </p:nvSpPr>
        <p:spPr>
          <a:xfrm>
            <a:off x="6515100" y="3954780"/>
            <a:ext cx="502920" cy="502920"/>
          </a:xfrm>
          <a:prstGeom prst="ellipse">
            <a:avLst/>
          </a:prstGeom>
          <a:solidFill>
            <a:srgbClr val="0B2545"/>
          </a:solidFill>
          <a:ln/>
        </p:spPr>
      </p:sp>
      <p:pic>
        <p:nvPicPr>
          <p:cNvPr id="20" name="Image 3" descr="icons/layers_white.png">    </p:cNvPr>
          <p:cNvPicPr>
            <a:picLocks noChangeAspect="1"/>
          </p:cNvPicPr>
          <p:nvPr/>
        </p:nvPicPr>
        <p:blipFill>
          <a:blip r:embed="rId4"/>
          <a:stretch>
            <a:fillRect/>
          </a:stretch>
        </p:blipFill>
        <p:spPr>
          <a:xfrm>
            <a:off x="6628257" y="4067937"/>
            <a:ext cx="276606" cy="276606"/>
          </a:xfrm>
          <a:prstGeom prst="rect">
            <a:avLst/>
          </a:prstGeom>
        </p:spPr>
      </p:pic>
      <p:sp>
        <p:nvSpPr>
          <p:cNvPr id="21" name="Text 15"/>
          <p:cNvSpPr/>
          <p:nvPr/>
        </p:nvSpPr>
        <p:spPr>
          <a:xfrm>
            <a:off x="7178040" y="3931920"/>
            <a:ext cx="425196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Metadata Record</a:t>
            </a:r>
            <a:endParaRPr lang="en-US" sz="1450" dirty="0"/>
          </a:p>
        </p:txBody>
      </p:sp>
      <p:sp>
        <p:nvSpPr>
          <p:cNvPr id="22" name="Text 16"/>
          <p:cNvSpPr/>
          <p:nvPr/>
        </p:nvSpPr>
        <p:spPr>
          <a:xfrm>
            <a:off x="6583680" y="461772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Structured JSON: vehicle_number, owner_name, vehicle_type, violation_type, confidence_score, timestamp, camera_id, evidence_path.</a:t>
            </a:r>
            <a:endParaRPr lang="en-US" sz="1100" dirty="0"/>
          </a:p>
        </p:txBody>
      </p:sp>
      <p:sp>
        <p:nvSpPr>
          <p:cNvPr id="23"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24"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Stage 14 · Analytics Dashboard</a:t>
            </a:r>
            <a:endParaRPr lang="en-US" sz="2800" dirty="0"/>
          </a:p>
        </p:txBody>
      </p:sp>
      <p:sp>
        <p:nvSpPr>
          <p:cNvPr id="3" name="Text 1"/>
          <p:cNvSpPr/>
          <p:nvPr/>
        </p:nvSpPr>
        <p:spPr>
          <a:xfrm>
            <a:off x="548640" y="1005840"/>
            <a:ext cx="9144000" cy="365760"/>
          </a:xfrm>
          <a:prstGeom prst="rect">
            <a:avLst/>
          </a:prstGeom>
          <a:noFill/>
          <a:ln/>
        </p:spPr>
        <p:txBody>
          <a:bodyPr wrap="square" lIns="0" tIns="0" rIns="0" bIns="0" rtlCol="0" anchor="ctr"/>
          <a:lstStyle/>
          <a:p>
            <a:pPr indent="0" marL="0">
              <a:buNone/>
            </a:pPr>
            <a:r>
              <a:rPr lang="en-US" sz="1350" dirty="0">
                <a:solidFill>
                  <a:srgbClr val="5B6B85"/>
                </a:solidFill>
                <a:latin typeface="Calibri" pitchFamily="34" charset="0"/>
                <a:ea typeface="Calibri" pitchFamily="34" charset="-122"/>
                <a:cs typeface="Calibri" pitchFamily="34" charset="-120"/>
              </a:rPr>
              <a:t>Turning enforcement events into actionable intelligence for traffic authorities.</a:t>
            </a:r>
            <a:endParaRPr lang="en-US" sz="1350" dirty="0"/>
          </a:p>
        </p:txBody>
      </p:sp>
      <p:graphicFrame>
        <p:nvGraphicFramePr>
          <p:cNvPr id="4" name="Chart 0" descr=""/>
          <p:cNvGraphicFramePr/>
          <p:nvPr/>
        </p:nvGraphicFramePr>
        <p:xfrm>
          <a:off x="548640" y="1600200"/>
          <a:ext cx="56692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355080" y="1600200"/>
          <a:ext cx="2651760" cy="269748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9235440" y="1600200"/>
            <a:ext cx="2377440" cy="2697480"/>
          </a:xfrm>
          <a:prstGeom prst="roundRect">
            <a:avLst>
              <a:gd name="adj" fmla="val 3077"/>
            </a:avLst>
          </a:prstGeom>
          <a:solidFill>
            <a:srgbClr val="0B2545"/>
          </a:solidFill>
          <a:ln/>
        </p:spPr>
      </p:sp>
      <p:sp>
        <p:nvSpPr>
          <p:cNvPr id="7" name="Text 3"/>
          <p:cNvSpPr/>
          <p:nvPr/>
        </p:nvSpPr>
        <p:spPr>
          <a:xfrm>
            <a:off x="9464040" y="1783080"/>
            <a:ext cx="1920240" cy="320040"/>
          </a:xfrm>
          <a:prstGeom prst="rect">
            <a:avLst/>
          </a:prstGeom>
          <a:noFill/>
          <a:ln/>
        </p:spPr>
        <p:txBody>
          <a:bodyPr wrap="square" lIns="0" tIns="0" rIns="0" bIns="0" rtlCol="0" anchor="ctr"/>
          <a:lstStyle/>
          <a:p>
            <a:pPr indent="0" marL="0">
              <a:buNone/>
            </a:pPr>
            <a:r>
              <a:rPr lang="en-US" sz="1250" b="1" dirty="0">
                <a:solidFill>
                  <a:srgbClr val="FFB703"/>
                </a:solidFill>
                <a:latin typeface="Calibri" pitchFamily="34" charset="0"/>
                <a:ea typeface="Calibri" pitchFamily="34" charset="-122"/>
                <a:cs typeface="Calibri" pitchFamily="34" charset="-120"/>
              </a:rPr>
              <a:t>Also Tracks</a:t>
            </a:r>
            <a:endParaRPr lang="en-US" sz="1250" dirty="0"/>
          </a:p>
        </p:txBody>
      </p:sp>
      <p:sp>
        <p:nvSpPr>
          <p:cNvPr id="8" name="Text 4"/>
          <p:cNvSpPr/>
          <p:nvPr/>
        </p:nvSpPr>
        <p:spPr>
          <a:xfrm>
            <a:off x="9464040" y="2194560"/>
            <a:ext cx="1965960" cy="530352"/>
          </a:xfrm>
          <a:prstGeom prst="rect">
            <a:avLst/>
          </a:prstGeom>
          <a:noFill/>
          <a:ln/>
        </p:spPr>
        <p:txBody>
          <a:bodyPr wrap="square" lIns="0" tIns="0" rIns="0" bIns="0"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High-risk location ranking</a:t>
            </a:r>
            <a:endParaRPr lang="en-US" sz="1050" dirty="0"/>
          </a:p>
        </p:txBody>
      </p:sp>
      <p:sp>
        <p:nvSpPr>
          <p:cNvPr id="9" name="Text 5"/>
          <p:cNvSpPr/>
          <p:nvPr/>
        </p:nvSpPr>
        <p:spPr>
          <a:xfrm>
            <a:off x="9464040" y="2761488"/>
            <a:ext cx="1965960" cy="530352"/>
          </a:xfrm>
          <a:prstGeom prst="rect">
            <a:avLst/>
          </a:prstGeom>
          <a:noFill/>
          <a:ln/>
        </p:spPr>
        <p:txBody>
          <a:bodyPr wrap="square" lIns="0" tIns="0" rIns="0" bIns="0"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Repeat-offender tracking</a:t>
            </a:r>
            <a:endParaRPr lang="en-US" sz="1050" dirty="0"/>
          </a:p>
        </p:txBody>
      </p:sp>
      <p:sp>
        <p:nvSpPr>
          <p:cNvPr id="10" name="Text 6"/>
          <p:cNvSpPr/>
          <p:nvPr/>
        </p:nvSpPr>
        <p:spPr>
          <a:xfrm>
            <a:off x="9464040" y="3328416"/>
            <a:ext cx="1965960" cy="530352"/>
          </a:xfrm>
          <a:prstGeom prst="rect">
            <a:avLst/>
          </a:prstGeom>
          <a:noFill/>
          <a:ln/>
        </p:spPr>
        <p:txBody>
          <a:bodyPr wrap="square" lIns="0" tIns="0" rIns="0" bIns="0"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Searchable violation records</a:t>
            </a:r>
            <a:endParaRPr lang="en-US" sz="1050" dirty="0"/>
          </a:p>
        </p:txBody>
      </p:sp>
      <p:sp>
        <p:nvSpPr>
          <p:cNvPr id="11" name="Text 7"/>
          <p:cNvSpPr/>
          <p:nvPr/>
        </p:nvSpPr>
        <p:spPr>
          <a:xfrm>
            <a:off x="9464040" y="3895344"/>
            <a:ext cx="1965960" cy="530352"/>
          </a:xfrm>
          <a:prstGeom prst="rect">
            <a:avLst/>
          </a:prstGeom>
          <a:noFill/>
          <a:ln/>
        </p:spPr>
        <p:txBody>
          <a:bodyPr wrap="square" lIns="0" tIns="0" rIns="0" bIns="0"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Automated summary reports</a:t>
            </a:r>
            <a:endParaRPr lang="en-US" sz="1050" dirty="0"/>
          </a:p>
        </p:txBody>
      </p:sp>
      <p:sp>
        <p:nvSpPr>
          <p:cNvPr id="12" name="Text 8"/>
          <p:cNvSpPr/>
          <p:nvPr/>
        </p:nvSpPr>
        <p:spPr>
          <a:xfrm>
            <a:off x="548640" y="4617720"/>
            <a:ext cx="11064240" cy="45720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All evidence, metadata, and trend data are surfaced through one searchable, exportable interface for enforcement teams.</a:t>
            </a:r>
            <a:endParaRPr lang="en-US" sz="1200" dirty="0"/>
          </a:p>
        </p:txBody>
      </p:sp>
      <p:sp>
        <p:nvSpPr>
          <p:cNvPr id="13" name="Text 9"/>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14" name="Text 10"/>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5029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Stage 15 · Performance Evaluation</a:t>
            </a:r>
            <a:endParaRPr lang="en-US" sz="2800" dirty="0"/>
          </a:p>
        </p:txBody>
      </p:sp>
      <p:sp>
        <p:nvSpPr>
          <p:cNvPr id="3" name="Text 1"/>
          <p:cNvSpPr/>
          <p:nvPr/>
        </p:nvSpPr>
        <p:spPr>
          <a:xfrm>
            <a:off x="548640" y="1005840"/>
            <a:ext cx="9144000" cy="365760"/>
          </a:xfrm>
          <a:prstGeom prst="rect">
            <a:avLst/>
          </a:prstGeom>
          <a:noFill/>
          <a:ln/>
        </p:spPr>
        <p:txBody>
          <a:bodyPr wrap="square" lIns="0" tIns="0" rIns="0" bIns="0" rtlCol="0" anchor="ctr"/>
          <a:lstStyle/>
          <a:p>
            <a:pPr indent="0" marL="0">
              <a:buNone/>
            </a:pPr>
            <a:r>
              <a:rPr lang="en-US" sz="1350" dirty="0">
                <a:solidFill>
                  <a:srgbClr val="5B6B85"/>
                </a:solidFill>
                <a:latin typeface="Calibri" pitchFamily="34" charset="0"/>
                <a:ea typeface="Calibri" pitchFamily="34" charset="-122"/>
                <a:cs typeface="Calibri" pitchFamily="34" charset="-120"/>
              </a:rPr>
              <a:t>Every subsystem is measured against domain-appropriate metrics.</a:t>
            </a:r>
            <a:endParaRPr lang="en-US" sz="1350" dirty="0"/>
          </a:p>
        </p:txBody>
      </p:sp>
      <p:sp>
        <p:nvSpPr>
          <p:cNvPr id="4" name="Shape 2"/>
          <p:cNvSpPr/>
          <p:nvPr/>
        </p:nvSpPr>
        <p:spPr>
          <a:xfrm>
            <a:off x="548640" y="1600200"/>
            <a:ext cx="2606040" cy="4023360"/>
          </a:xfrm>
          <a:prstGeom prst="roundRect">
            <a:avLst>
              <a:gd name="adj" fmla="val 2807"/>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600200" y="1943100"/>
            <a:ext cx="502920" cy="502920"/>
          </a:xfrm>
          <a:prstGeom prst="ellipse">
            <a:avLst/>
          </a:prstGeom>
          <a:solidFill>
            <a:srgbClr val="0B2545"/>
          </a:solidFill>
          <a:ln/>
        </p:spPr>
      </p:sp>
      <p:pic>
        <p:nvPicPr>
          <p:cNvPr id="6" name="Image 0" descr="icons/eye_white.png">    </p:cNvPr>
          <p:cNvPicPr>
            <a:picLocks noChangeAspect="1"/>
          </p:cNvPicPr>
          <p:nvPr/>
        </p:nvPicPr>
        <p:blipFill>
          <a:blip r:embed="rId1"/>
          <a:stretch>
            <a:fillRect/>
          </a:stretch>
        </p:blipFill>
        <p:spPr>
          <a:xfrm>
            <a:off x="1713357" y="2056257"/>
            <a:ext cx="276606" cy="276606"/>
          </a:xfrm>
          <a:prstGeom prst="rect">
            <a:avLst/>
          </a:prstGeom>
        </p:spPr>
      </p:pic>
      <p:sp>
        <p:nvSpPr>
          <p:cNvPr id="7" name="Text 4"/>
          <p:cNvSpPr/>
          <p:nvPr/>
        </p:nvSpPr>
        <p:spPr>
          <a:xfrm>
            <a:off x="685800" y="2651760"/>
            <a:ext cx="233172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Detection</a:t>
            </a:r>
            <a:endParaRPr lang="en-US" sz="1500" dirty="0"/>
          </a:p>
        </p:txBody>
      </p:sp>
      <p:sp>
        <p:nvSpPr>
          <p:cNvPr id="8" name="Shape 5"/>
          <p:cNvSpPr/>
          <p:nvPr/>
        </p:nvSpPr>
        <p:spPr>
          <a:xfrm>
            <a:off x="822960" y="3291840"/>
            <a:ext cx="91440" cy="91440"/>
          </a:xfrm>
          <a:prstGeom prst="ellipse">
            <a:avLst/>
          </a:prstGeom>
          <a:solidFill>
            <a:srgbClr val="FFB703"/>
          </a:solidFill>
          <a:ln/>
        </p:spPr>
      </p:sp>
      <p:sp>
        <p:nvSpPr>
          <p:cNvPr id="9" name="Text 6"/>
          <p:cNvSpPr/>
          <p:nvPr/>
        </p:nvSpPr>
        <p:spPr>
          <a:xfrm>
            <a:off x="1051560" y="315468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Precision</a:t>
            </a:r>
            <a:endParaRPr lang="en-US" sz="1150" dirty="0"/>
          </a:p>
        </p:txBody>
      </p:sp>
      <p:sp>
        <p:nvSpPr>
          <p:cNvPr id="10" name="Shape 7"/>
          <p:cNvSpPr/>
          <p:nvPr/>
        </p:nvSpPr>
        <p:spPr>
          <a:xfrm>
            <a:off x="822960" y="3840480"/>
            <a:ext cx="91440" cy="91440"/>
          </a:xfrm>
          <a:prstGeom prst="ellipse">
            <a:avLst/>
          </a:prstGeom>
          <a:solidFill>
            <a:srgbClr val="FFB703"/>
          </a:solidFill>
          <a:ln/>
        </p:spPr>
      </p:sp>
      <p:sp>
        <p:nvSpPr>
          <p:cNvPr id="11" name="Text 8"/>
          <p:cNvSpPr/>
          <p:nvPr/>
        </p:nvSpPr>
        <p:spPr>
          <a:xfrm>
            <a:off x="1051560" y="370332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Recall</a:t>
            </a:r>
            <a:endParaRPr lang="en-US" sz="1150" dirty="0"/>
          </a:p>
        </p:txBody>
      </p:sp>
      <p:sp>
        <p:nvSpPr>
          <p:cNvPr id="12" name="Shape 9"/>
          <p:cNvSpPr/>
          <p:nvPr/>
        </p:nvSpPr>
        <p:spPr>
          <a:xfrm>
            <a:off x="822960" y="4389120"/>
            <a:ext cx="91440" cy="91440"/>
          </a:xfrm>
          <a:prstGeom prst="ellipse">
            <a:avLst/>
          </a:prstGeom>
          <a:solidFill>
            <a:srgbClr val="FFB703"/>
          </a:solidFill>
          <a:ln/>
        </p:spPr>
      </p:sp>
      <p:sp>
        <p:nvSpPr>
          <p:cNvPr id="13" name="Text 10"/>
          <p:cNvSpPr/>
          <p:nvPr/>
        </p:nvSpPr>
        <p:spPr>
          <a:xfrm>
            <a:off x="1051560" y="425196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F1 Score</a:t>
            </a:r>
            <a:endParaRPr lang="en-US" sz="1150" dirty="0"/>
          </a:p>
        </p:txBody>
      </p:sp>
      <p:sp>
        <p:nvSpPr>
          <p:cNvPr id="14" name="Shape 11"/>
          <p:cNvSpPr/>
          <p:nvPr/>
        </p:nvSpPr>
        <p:spPr>
          <a:xfrm>
            <a:off x="822960" y="4937760"/>
            <a:ext cx="91440" cy="91440"/>
          </a:xfrm>
          <a:prstGeom prst="ellipse">
            <a:avLst/>
          </a:prstGeom>
          <a:solidFill>
            <a:srgbClr val="FFB703"/>
          </a:solidFill>
          <a:ln/>
        </p:spPr>
      </p:sp>
      <p:sp>
        <p:nvSpPr>
          <p:cNvPr id="15" name="Text 12"/>
          <p:cNvSpPr/>
          <p:nvPr/>
        </p:nvSpPr>
        <p:spPr>
          <a:xfrm>
            <a:off x="1051560" y="480060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mAP</a:t>
            </a:r>
            <a:endParaRPr lang="en-US" sz="1150" dirty="0"/>
          </a:p>
        </p:txBody>
      </p:sp>
      <p:sp>
        <p:nvSpPr>
          <p:cNvPr id="16" name="Shape 13"/>
          <p:cNvSpPr/>
          <p:nvPr/>
        </p:nvSpPr>
        <p:spPr>
          <a:xfrm>
            <a:off x="3383280" y="1600200"/>
            <a:ext cx="2606040" cy="4023360"/>
          </a:xfrm>
          <a:prstGeom prst="roundRect">
            <a:avLst>
              <a:gd name="adj" fmla="val 2807"/>
            </a:avLst>
          </a:prstGeom>
          <a:solidFill>
            <a:srgbClr val="FFFFFF"/>
          </a:solidFill>
          <a:ln/>
          <a:effectLst>
            <a:outerShdw sx="100000" sy="100000" kx="0" ky="0" algn="bl" rotWithShape="0" blurRad="101600" dist="38100" dir="2700000">
              <a:srgbClr val="000000">
                <a:alpha val="12000"/>
              </a:srgbClr>
            </a:outerShdw>
          </a:effectLst>
        </p:spPr>
      </p:sp>
      <p:sp>
        <p:nvSpPr>
          <p:cNvPr id="17" name="Shape 14"/>
          <p:cNvSpPr/>
          <p:nvPr/>
        </p:nvSpPr>
        <p:spPr>
          <a:xfrm>
            <a:off x="4434840" y="1943100"/>
            <a:ext cx="502920" cy="502920"/>
          </a:xfrm>
          <a:prstGeom prst="ellipse">
            <a:avLst/>
          </a:prstGeom>
          <a:solidFill>
            <a:srgbClr val="0B2545"/>
          </a:solidFill>
          <a:ln/>
        </p:spPr>
      </p:sp>
      <p:pic>
        <p:nvPicPr>
          <p:cNvPr id="18" name="Image 1" descr="icons/layers_white.png">    </p:cNvPr>
          <p:cNvPicPr>
            <a:picLocks noChangeAspect="1"/>
          </p:cNvPicPr>
          <p:nvPr/>
        </p:nvPicPr>
        <p:blipFill>
          <a:blip r:embed="rId2"/>
          <a:stretch>
            <a:fillRect/>
          </a:stretch>
        </p:blipFill>
        <p:spPr>
          <a:xfrm>
            <a:off x="4547997" y="2056257"/>
            <a:ext cx="276606" cy="276606"/>
          </a:xfrm>
          <a:prstGeom prst="rect">
            <a:avLst/>
          </a:prstGeom>
        </p:spPr>
      </p:pic>
      <p:sp>
        <p:nvSpPr>
          <p:cNvPr id="19" name="Text 15"/>
          <p:cNvSpPr/>
          <p:nvPr/>
        </p:nvSpPr>
        <p:spPr>
          <a:xfrm>
            <a:off x="3520440" y="2651760"/>
            <a:ext cx="233172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Tracking</a:t>
            </a:r>
            <a:endParaRPr lang="en-US" sz="1500" dirty="0"/>
          </a:p>
        </p:txBody>
      </p:sp>
      <p:sp>
        <p:nvSpPr>
          <p:cNvPr id="20" name="Shape 16"/>
          <p:cNvSpPr/>
          <p:nvPr/>
        </p:nvSpPr>
        <p:spPr>
          <a:xfrm>
            <a:off x="3657600" y="3291840"/>
            <a:ext cx="91440" cy="91440"/>
          </a:xfrm>
          <a:prstGeom prst="ellipse">
            <a:avLst/>
          </a:prstGeom>
          <a:solidFill>
            <a:srgbClr val="FFB703"/>
          </a:solidFill>
          <a:ln/>
        </p:spPr>
      </p:sp>
      <p:sp>
        <p:nvSpPr>
          <p:cNvPr id="21" name="Text 17"/>
          <p:cNvSpPr/>
          <p:nvPr/>
        </p:nvSpPr>
        <p:spPr>
          <a:xfrm>
            <a:off x="3886200" y="315468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MOTA</a:t>
            </a:r>
            <a:endParaRPr lang="en-US" sz="1150" dirty="0"/>
          </a:p>
        </p:txBody>
      </p:sp>
      <p:sp>
        <p:nvSpPr>
          <p:cNvPr id="22" name="Shape 18"/>
          <p:cNvSpPr/>
          <p:nvPr/>
        </p:nvSpPr>
        <p:spPr>
          <a:xfrm>
            <a:off x="3657600" y="3840480"/>
            <a:ext cx="91440" cy="91440"/>
          </a:xfrm>
          <a:prstGeom prst="ellipse">
            <a:avLst/>
          </a:prstGeom>
          <a:solidFill>
            <a:srgbClr val="FFB703"/>
          </a:solidFill>
          <a:ln/>
        </p:spPr>
      </p:sp>
      <p:sp>
        <p:nvSpPr>
          <p:cNvPr id="23" name="Text 19"/>
          <p:cNvSpPr/>
          <p:nvPr/>
        </p:nvSpPr>
        <p:spPr>
          <a:xfrm>
            <a:off x="3886200" y="370332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IDF1</a:t>
            </a:r>
            <a:endParaRPr lang="en-US" sz="1150" dirty="0"/>
          </a:p>
        </p:txBody>
      </p:sp>
      <p:sp>
        <p:nvSpPr>
          <p:cNvPr id="24" name="Shape 20"/>
          <p:cNvSpPr/>
          <p:nvPr/>
        </p:nvSpPr>
        <p:spPr>
          <a:xfrm>
            <a:off x="6217920" y="1600200"/>
            <a:ext cx="2606040" cy="4023360"/>
          </a:xfrm>
          <a:prstGeom prst="roundRect">
            <a:avLst>
              <a:gd name="adj" fmla="val 2807"/>
            </a:avLst>
          </a:prstGeom>
          <a:solidFill>
            <a:srgbClr val="FFFFFF"/>
          </a:solidFill>
          <a:ln/>
          <a:effectLst>
            <a:outerShdw sx="100000" sy="100000" kx="0" ky="0" algn="bl" rotWithShape="0" blurRad="101600" dist="38100" dir="2700000">
              <a:srgbClr val="000000">
                <a:alpha val="12000"/>
              </a:srgbClr>
            </a:outerShdw>
          </a:effectLst>
        </p:spPr>
      </p:sp>
      <p:sp>
        <p:nvSpPr>
          <p:cNvPr id="25" name="Shape 21"/>
          <p:cNvSpPr/>
          <p:nvPr/>
        </p:nvSpPr>
        <p:spPr>
          <a:xfrm>
            <a:off x="7269480" y="1943100"/>
            <a:ext cx="502920" cy="502920"/>
          </a:xfrm>
          <a:prstGeom prst="ellipse">
            <a:avLst/>
          </a:prstGeom>
          <a:solidFill>
            <a:srgbClr val="0B2545"/>
          </a:solidFill>
          <a:ln/>
        </p:spPr>
      </p:sp>
      <p:pic>
        <p:nvPicPr>
          <p:cNvPr id="26" name="Image 2" descr="icons/idcard_white.png">    </p:cNvPr>
          <p:cNvPicPr>
            <a:picLocks noChangeAspect="1"/>
          </p:cNvPicPr>
          <p:nvPr/>
        </p:nvPicPr>
        <p:blipFill>
          <a:blip r:embed="rId3"/>
          <a:stretch>
            <a:fillRect/>
          </a:stretch>
        </p:blipFill>
        <p:spPr>
          <a:xfrm>
            <a:off x="7382637" y="2056257"/>
            <a:ext cx="276606" cy="276606"/>
          </a:xfrm>
          <a:prstGeom prst="rect">
            <a:avLst/>
          </a:prstGeom>
        </p:spPr>
      </p:pic>
      <p:sp>
        <p:nvSpPr>
          <p:cNvPr id="27" name="Text 22"/>
          <p:cNvSpPr/>
          <p:nvPr/>
        </p:nvSpPr>
        <p:spPr>
          <a:xfrm>
            <a:off x="6355080" y="2651760"/>
            <a:ext cx="233172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OCR</a:t>
            </a:r>
            <a:endParaRPr lang="en-US" sz="1500" dirty="0"/>
          </a:p>
        </p:txBody>
      </p:sp>
      <p:sp>
        <p:nvSpPr>
          <p:cNvPr id="28" name="Shape 23"/>
          <p:cNvSpPr/>
          <p:nvPr/>
        </p:nvSpPr>
        <p:spPr>
          <a:xfrm>
            <a:off x="6492240" y="3291840"/>
            <a:ext cx="91440" cy="91440"/>
          </a:xfrm>
          <a:prstGeom prst="ellipse">
            <a:avLst/>
          </a:prstGeom>
          <a:solidFill>
            <a:srgbClr val="FFB703"/>
          </a:solidFill>
          <a:ln/>
        </p:spPr>
      </p:sp>
      <p:sp>
        <p:nvSpPr>
          <p:cNvPr id="29" name="Text 24"/>
          <p:cNvSpPr/>
          <p:nvPr/>
        </p:nvSpPr>
        <p:spPr>
          <a:xfrm>
            <a:off x="6720840" y="315468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Character Accuracy</a:t>
            </a:r>
            <a:endParaRPr lang="en-US" sz="1150" dirty="0"/>
          </a:p>
        </p:txBody>
      </p:sp>
      <p:sp>
        <p:nvSpPr>
          <p:cNvPr id="30" name="Shape 25"/>
          <p:cNvSpPr/>
          <p:nvPr/>
        </p:nvSpPr>
        <p:spPr>
          <a:xfrm>
            <a:off x="6492240" y="3840480"/>
            <a:ext cx="91440" cy="91440"/>
          </a:xfrm>
          <a:prstGeom prst="ellipse">
            <a:avLst/>
          </a:prstGeom>
          <a:solidFill>
            <a:srgbClr val="FFB703"/>
          </a:solidFill>
          <a:ln/>
        </p:spPr>
      </p:sp>
      <p:sp>
        <p:nvSpPr>
          <p:cNvPr id="31" name="Text 26"/>
          <p:cNvSpPr/>
          <p:nvPr/>
        </p:nvSpPr>
        <p:spPr>
          <a:xfrm>
            <a:off x="6720840" y="370332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Plate Accuracy</a:t>
            </a:r>
            <a:endParaRPr lang="en-US" sz="1150" dirty="0"/>
          </a:p>
        </p:txBody>
      </p:sp>
      <p:sp>
        <p:nvSpPr>
          <p:cNvPr id="32" name="Shape 27"/>
          <p:cNvSpPr/>
          <p:nvPr/>
        </p:nvSpPr>
        <p:spPr>
          <a:xfrm>
            <a:off x="9052560" y="1600200"/>
            <a:ext cx="2606040" cy="4023360"/>
          </a:xfrm>
          <a:prstGeom prst="roundRect">
            <a:avLst>
              <a:gd name="adj" fmla="val 2807"/>
            </a:avLst>
          </a:prstGeom>
          <a:solidFill>
            <a:srgbClr val="FFFFFF"/>
          </a:solidFill>
          <a:ln/>
          <a:effectLst>
            <a:outerShdw sx="100000" sy="100000" kx="0" ky="0" algn="bl" rotWithShape="0" blurRad="101600" dist="38100" dir="2700000">
              <a:srgbClr val="000000">
                <a:alpha val="12000"/>
              </a:srgbClr>
            </a:outerShdw>
          </a:effectLst>
        </p:spPr>
      </p:sp>
      <p:sp>
        <p:nvSpPr>
          <p:cNvPr id="33" name="Shape 28"/>
          <p:cNvSpPr/>
          <p:nvPr/>
        </p:nvSpPr>
        <p:spPr>
          <a:xfrm>
            <a:off x="10104120" y="1943100"/>
            <a:ext cx="502920" cy="502920"/>
          </a:xfrm>
          <a:prstGeom prst="ellipse">
            <a:avLst/>
          </a:prstGeom>
          <a:solidFill>
            <a:srgbClr val="0B2545"/>
          </a:solidFill>
          <a:ln/>
        </p:spPr>
      </p:sp>
      <p:pic>
        <p:nvPicPr>
          <p:cNvPr id="34" name="Image 3" descr="icons/speed_white.png">    </p:cNvPr>
          <p:cNvPicPr>
            <a:picLocks noChangeAspect="1"/>
          </p:cNvPicPr>
          <p:nvPr/>
        </p:nvPicPr>
        <p:blipFill>
          <a:blip r:embed="rId4"/>
          <a:stretch>
            <a:fillRect/>
          </a:stretch>
        </p:blipFill>
        <p:spPr>
          <a:xfrm>
            <a:off x="10217277" y="2056257"/>
            <a:ext cx="276606" cy="276606"/>
          </a:xfrm>
          <a:prstGeom prst="rect">
            <a:avLst/>
          </a:prstGeom>
        </p:spPr>
      </p:pic>
      <p:sp>
        <p:nvSpPr>
          <p:cNvPr id="35" name="Text 29"/>
          <p:cNvSpPr/>
          <p:nvPr/>
        </p:nvSpPr>
        <p:spPr>
          <a:xfrm>
            <a:off x="9189720" y="2651760"/>
            <a:ext cx="233172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System</a:t>
            </a:r>
            <a:endParaRPr lang="en-US" sz="1500" dirty="0"/>
          </a:p>
        </p:txBody>
      </p:sp>
      <p:sp>
        <p:nvSpPr>
          <p:cNvPr id="36" name="Shape 30"/>
          <p:cNvSpPr/>
          <p:nvPr/>
        </p:nvSpPr>
        <p:spPr>
          <a:xfrm>
            <a:off x="9326880" y="3291840"/>
            <a:ext cx="91440" cy="91440"/>
          </a:xfrm>
          <a:prstGeom prst="ellipse">
            <a:avLst/>
          </a:prstGeom>
          <a:solidFill>
            <a:srgbClr val="FFB703"/>
          </a:solidFill>
          <a:ln/>
        </p:spPr>
      </p:sp>
      <p:sp>
        <p:nvSpPr>
          <p:cNvPr id="37" name="Text 31"/>
          <p:cNvSpPr/>
          <p:nvPr/>
        </p:nvSpPr>
        <p:spPr>
          <a:xfrm>
            <a:off x="9555480" y="315468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Latency</a:t>
            </a:r>
            <a:endParaRPr lang="en-US" sz="1150" dirty="0"/>
          </a:p>
        </p:txBody>
      </p:sp>
      <p:sp>
        <p:nvSpPr>
          <p:cNvPr id="38" name="Shape 32"/>
          <p:cNvSpPr/>
          <p:nvPr/>
        </p:nvSpPr>
        <p:spPr>
          <a:xfrm>
            <a:off x="9326880" y="3840480"/>
            <a:ext cx="91440" cy="91440"/>
          </a:xfrm>
          <a:prstGeom prst="ellipse">
            <a:avLst/>
          </a:prstGeom>
          <a:solidFill>
            <a:srgbClr val="FFB703"/>
          </a:solidFill>
          <a:ln/>
        </p:spPr>
      </p:sp>
      <p:sp>
        <p:nvSpPr>
          <p:cNvPr id="39" name="Text 33"/>
          <p:cNvSpPr/>
          <p:nvPr/>
        </p:nvSpPr>
        <p:spPr>
          <a:xfrm>
            <a:off x="9555480" y="370332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FPS</a:t>
            </a:r>
            <a:endParaRPr lang="en-US" sz="1150" dirty="0"/>
          </a:p>
        </p:txBody>
      </p:sp>
      <p:sp>
        <p:nvSpPr>
          <p:cNvPr id="40" name="Shape 34"/>
          <p:cNvSpPr/>
          <p:nvPr/>
        </p:nvSpPr>
        <p:spPr>
          <a:xfrm>
            <a:off x="9326880" y="4389120"/>
            <a:ext cx="91440" cy="91440"/>
          </a:xfrm>
          <a:prstGeom prst="ellipse">
            <a:avLst/>
          </a:prstGeom>
          <a:solidFill>
            <a:srgbClr val="FFB703"/>
          </a:solidFill>
          <a:ln/>
        </p:spPr>
      </p:sp>
      <p:sp>
        <p:nvSpPr>
          <p:cNvPr id="41" name="Text 35"/>
          <p:cNvSpPr/>
          <p:nvPr/>
        </p:nvSpPr>
        <p:spPr>
          <a:xfrm>
            <a:off x="9555480" y="425196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Memory Usage</a:t>
            </a:r>
            <a:endParaRPr lang="en-US" sz="1150" dirty="0"/>
          </a:p>
        </p:txBody>
      </p:sp>
      <p:sp>
        <p:nvSpPr>
          <p:cNvPr id="42" name="Shape 36"/>
          <p:cNvSpPr/>
          <p:nvPr/>
        </p:nvSpPr>
        <p:spPr>
          <a:xfrm>
            <a:off x="9326880" y="4937760"/>
            <a:ext cx="91440" cy="91440"/>
          </a:xfrm>
          <a:prstGeom prst="ellipse">
            <a:avLst/>
          </a:prstGeom>
          <a:solidFill>
            <a:srgbClr val="FFB703"/>
          </a:solidFill>
          <a:ln/>
        </p:spPr>
      </p:sp>
      <p:sp>
        <p:nvSpPr>
          <p:cNvPr id="43" name="Text 37"/>
          <p:cNvSpPr/>
          <p:nvPr/>
        </p:nvSpPr>
        <p:spPr>
          <a:xfrm>
            <a:off x="9555480" y="4800600"/>
            <a:ext cx="1920240" cy="411480"/>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Scalability</a:t>
            </a:r>
            <a:endParaRPr lang="en-US" sz="1150" dirty="0"/>
          </a:p>
        </p:txBody>
      </p:sp>
      <p:sp>
        <p:nvSpPr>
          <p:cNvPr id="44" name="Text 3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45" name="Text 3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What Sets This Apart</a:t>
            </a:r>
            <a:endParaRPr lang="en-US" sz="3200" dirty="0"/>
          </a:p>
        </p:txBody>
      </p:sp>
      <p:sp>
        <p:nvSpPr>
          <p:cNvPr id="3" name="Shape 1"/>
          <p:cNvSpPr/>
          <p:nvPr/>
        </p:nvSpPr>
        <p:spPr>
          <a:xfrm>
            <a:off x="548640" y="1188720"/>
            <a:ext cx="5349240" cy="2148840"/>
          </a:xfrm>
          <a:prstGeom prst="roundRect">
            <a:avLst>
              <a:gd name="adj" fmla="val 3404"/>
            </a:avLst>
          </a:prstGeom>
          <a:solidFill>
            <a:srgbClr val="F7F9FC"/>
          </a:solidFill>
          <a:ln/>
          <a:effectLst>
            <a:outerShdw sx="100000" sy="100000" kx="0" ky="0" algn="bl" rotWithShape="0" blurRad="101600" dist="38100" dir="2700000">
              <a:srgbClr val="000000">
                <a:alpha val="12000"/>
              </a:srgbClr>
            </a:outerShdw>
          </a:effectLst>
        </p:spPr>
      </p:sp>
      <p:sp>
        <p:nvSpPr>
          <p:cNvPr id="4" name="Shape 2"/>
          <p:cNvSpPr/>
          <p:nvPr/>
        </p:nvSpPr>
        <p:spPr>
          <a:xfrm>
            <a:off x="800100" y="1440180"/>
            <a:ext cx="502920" cy="502920"/>
          </a:xfrm>
          <a:prstGeom prst="ellipse">
            <a:avLst/>
          </a:prstGeom>
          <a:solidFill>
            <a:srgbClr val="0B2545"/>
          </a:solidFill>
          <a:ln/>
        </p:spPr>
      </p:sp>
      <p:pic>
        <p:nvPicPr>
          <p:cNvPr id="5" name="Image 0" descr="icons/brain_white.png">    </p:cNvPr>
          <p:cNvPicPr>
            <a:picLocks noChangeAspect="1"/>
          </p:cNvPicPr>
          <p:nvPr/>
        </p:nvPicPr>
        <p:blipFill>
          <a:blip r:embed="rId1"/>
          <a:stretch>
            <a:fillRect/>
          </a:stretch>
        </p:blipFill>
        <p:spPr>
          <a:xfrm>
            <a:off x="913257" y="1553337"/>
            <a:ext cx="276606" cy="276606"/>
          </a:xfrm>
          <a:prstGeom prst="rect">
            <a:avLst/>
          </a:prstGeom>
        </p:spPr>
      </p:pic>
      <p:sp>
        <p:nvSpPr>
          <p:cNvPr id="6" name="Text 3"/>
          <p:cNvSpPr/>
          <p:nvPr/>
        </p:nvSpPr>
        <p:spPr>
          <a:xfrm>
            <a:off x="1463040" y="1371600"/>
            <a:ext cx="4251960" cy="594360"/>
          </a:xfrm>
          <a:prstGeom prst="rect">
            <a:avLst/>
          </a:prstGeom>
          <a:noFill/>
          <a:ln/>
        </p:spPr>
        <p:txBody>
          <a:bodyPr wrap="square" lIns="0" tIns="0" rIns="0" bIns="0" rtlCol="0" anchor="ctr"/>
          <a:lstStyle/>
          <a:p>
            <a:pPr indent="0" marL="0">
              <a:lnSpc>
                <a:spcPct val="110000"/>
              </a:lnSpc>
              <a:buNone/>
            </a:pPr>
            <a:r>
              <a:rPr lang="en-US" sz="1350" b="1" dirty="0">
                <a:solidFill>
                  <a:srgbClr val="0B2545"/>
                </a:solidFill>
                <a:latin typeface="Calibri" pitchFamily="34" charset="0"/>
                <a:ea typeface="Calibri" pitchFamily="34" charset="-122"/>
                <a:cs typeface="Calibri" pitchFamily="34" charset="-120"/>
              </a:rPr>
              <a:t>Scene-graph reasoning, not flat rules</a:t>
            </a:r>
            <a:endParaRPr lang="en-US" sz="1350" dirty="0"/>
          </a:p>
        </p:txBody>
      </p:sp>
      <p:sp>
        <p:nvSpPr>
          <p:cNvPr id="7" name="Text 4"/>
          <p:cNvSpPr/>
          <p:nvPr/>
        </p:nvSpPr>
        <p:spPr>
          <a:xfrm>
            <a:off x="868680" y="210312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Violations are inferred from spatial &amp; temporal relationships across the whole scene, with severity and confidence — not single-rule triggers.</a:t>
            </a:r>
            <a:endParaRPr lang="en-US" sz="1100" dirty="0"/>
          </a:p>
        </p:txBody>
      </p:sp>
      <p:sp>
        <p:nvSpPr>
          <p:cNvPr id="8" name="Shape 5"/>
          <p:cNvSpPr/>
          <p:nvPr/>
        </p:nvSpPr>
        <p:spPr>
          <a:xfrm>
            <a:off x="6263640" y="1188720"/>
            <a:ext cx="5349240" cy="2148840"/>
          </a:xfrm>
          <a:prstGeom prst="roundRect">
            <a:avLst>
              <a:gd name="adj" fmla="val 3404"/>
            </a:avLst>
          </a:prstGeom>
          <a:solidFill>
            <a:srgbClr val="F7F9FC"/>
          </a:solidFill>
          <a:ln/>
          <a:effectLst>
            <a:outerShdw sx="100000" sy="100000" kx="0" ky="0" algn="bl" rotWithShape="0" blurRad="101600" dist="38100" dir="2700000">
              <a:srgbClr val="000000">
                <a:alpha val="12000"/>
              </a:srgbClr>
            </a:outerShdw>
          </a:effectLst>
        </p:spPr>
      </p:sp>
      <p:sp>
        <p:nvSpPr>
          <p:cNvPr id="9" name="Shape 6"/>
          <p:cNvSpPr/>
          <p:nvPr/>
        </p:nvSpPr>
        <p:spPr>
          <a:xfrm>
            <a:off x="6515100" y="1440180"/>
            <a:ext cx="502920" cy="502920"/>
          </a:xfrm>
          <a:prstGeom prst="ellipse">
            <a:avLst/>
          </a:prstGeom>
          <a:solidFill>
            <a:srgbClr val="0B2545"/>
          </a:solidFill>
          <a:ln/>
        </p:spPr>
      </p:sp>
      <p:pic>
        <p:nvPicPr>
          <p:cNvPr id="10" name="Image 1" descr="icons/cogs_white.png">    </p:cNvPr>
          <p:cNvPicPr>
            <a:picLocks noChangeAspect="1"/>
          </p:cNvPicPr>
          <p:nvPr/>
        </p:nvPicPr>
        <p:blipFill>
          <a:blip r:embed="rId2"/>
          <a:stretch>
            <a:fillRect/>
          </a:stretch>
        </p:blipFill>
        <p:spPr>
          <a:xfrm>
            <a:off x="6628257" y="1553337"/>
            <a:ext cx="276606" cy="276606"/>
          </a:xfrm>
          <a:prstGeom prst="rect">
            <a:avLst/>
          </a:prstGeom>
        </p:spPr>
      </p:pic>
      <p:sp>
        <p:nvSpPr>
          <p:cNvPr id="11" name="Text 7"/>
          <p:cNvSpPr/>
          <p:nvPr/>
        </p:nvSpPr>
        <p:spPr>
          <a:xfrm>
            <a:off x="7178040" y="1371600"/>
            <a:ext cx="4251960" cy="594360"/>
          </a:xfrm>
          <a:prstGeom prst="rect">
            <a:avLst/>
          </a:prstGeom>
          <a:noFill/>
          <a:ln/>
        </p:spPr>
        <p:txBody>
          <a:bodyPr wrap="square" lIns="0" tIns="0" rIns="0" bIns="0" rtlCol="0" anchor="ctr"/>
          <a:lstStyle/>
          <a:p>
            <a:pPr indent="0" marL="0">
              <a:lnSpc>
                <a:spcPct val="110000"/>
              </a:lnSpc>
              <a:buNone/>
            </a:pPr>
            <a:r>
              <a:rPr lang="en-US" sz="1350" b="1" dirty="0">
                <a:solidFill>
                  <a:srgbClr val="0B2545"/>
                </a:solidFill>
                <a:latin typeface="Calibri" pitchFamily="34" charset="0"/>
                <a:ea typeface="Calibri" pitchFamily="34" charset="-122"/>
                <a:cs typeface="Calibri" pitchFamily="34" charset="-120"/>
              </a:rPr>
              <a:t>Adaptive, not blanket, preprocessing</a:t>
            </a:r>
            <a:endParaRPr lang="en-US" sz="1350" dirty="0"/>
          </a:p>
        </p:txBody>
      </p:sp>
      <p:sp>
        <p:nvSpPr>
          <p:cNvPr id="12" name="Text 8"/>
          <p:cNvSpPr/>
          <p:nvPr/>
        </p:nvSpPr>
        <p:spPr>
          <a:xfrm>
            <a:off x="6583680" y="210312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Enhancements apply only when image quality actually requires them, protecting detector accuracy instead of degrading it.</a:t>
            </a:r>
            <a:endParaRPr lang="en-US" sz="1100" dirty="0"/>
          </a:p>
        </p:txBody>
      </p:sp>
      <p:sp>
        <p:nvSpPr>
          <p:cNvPr id="13" name="Shape 9"/>
          <p:cNvSpPr/>
          <p:nvPr/>
        </p:nvSpPr>
        <p:spPr>
          <a:xfrm>
            <a:off x="548640" y="3657600"/>
            <a:ext cx="5349240" cy="2148840"/>
          </a:xfrm>
          <a:prstGeom prst="roundRect">
            <a:avLst>
              <a:gd name="adj" fmla="val 3404"/>
            </a:avLst>
          </a:prstGeom>
          <a:solidFill>
            <a:srgbClr val="F7F9FC"/>
          </a:solidFill>
          <a:ln/>
          <a:effectLst>
            <a:outerShdw sx="100000" sy="100000" kx="0" ky="0" algn="bl" rotWithShape="0" blurRad="101600" dist="38100" dir="2700000">
              <a:srgbClr val="000000">
                <a:alpha val="12000"/>
              </a:srgbClr>
            </a:outerShdw>
          </a:effectLst>
        </p:spPr>
      </p:sp>
      <p:sp>
        <p:nvSpPr>
          <p:cNvPr id="14" name="Shape 10"/>
          <p:cNvSpPr/>
          <p:nvPr/>
        </p:nvSpPr>
        <p:spPr>
          <a:xfrm>
            <a:off x="800100" y="3909060"/>
            <a:ext cx="502920" cy="502920"/>
          </a:xfrm>
          <a:prstGeom prst="ellipse">
            <a:avLst/>
          </a:prstGeom>
          <a:solidFill>
            <a:srgbClr val="0B2545"/>
          </a:solidFill>
          <a:ln/>
        </p:spPr>
      </p:sp>
      <p:pic>
        <p:nvPicPr>
          <p:cNvPr id="15" name="Image 2" descr="icons/sitemap_white.png">    </p:cNvPr>
          <p:cNvPicPr>
            <a:picLocks noChangeAspect="1"/>
          </p:cNvPicPr>
          <p:nvPr/>
        </p:nvPicPr>
        <p:blipFill>
          <a:blip r:embed="rId3"/>
          <a:stretch>
            <a:fillRect/>
          </a:stretch>
        </p:blipFill>
        <p:spPr>
          <a:xfrm>
            <a:off x="913257" y="4022217"/>
            <a:ext cx="276606" cy="276606"/>
          </a:xfrm>
          <a:prstGeom prst="rect">
            <a:avLst/>
          </a:prstGeom>
        </p:spPr>
      </p:pic>
      <p:sp>
        <p:nvSpPr>
          <p:cNvPr id="16" name="Text 11"/>
          <p:cNvSpPr/>
          <p:nvPr/>
        </p:nvSpPr>
        <p:spPr>
          <a:xfrm>
            <a:off x="1463040" y="3840480"/>
            <a:ext cx="4251960" cy="594360"/>
          </a:xfrm>
          <a:prstGeom prst="rect">
            <a:avLst/>
          </a:prstGeom>
          <a:noFill/>
          <a:ln/>
        </p:spPr>
        <p:txBody>
          <a:bodyPr wrap="square" lIns="0" tIns="0" rIns="0" bIns="0" rtlCol="0" anchor="ctr"/>
          <a:lstStyle/>
          <a:p>
            <a:pPr indent="0" marL="0">
              <a:lnSpc>
                <a:spcPct val="110000"/>
              </a:lnSpc>
              <a:buNone/>
            </a:pPr>
            <a:r>
              <a:rPr lang="en-US" sz="1350" b="1" dirty="0">
                <a:solidFill>
                  <a:srgbClr val="0B2545"/>
                </a:solidFill>
                <a:latin typeface="Calibri" pitchFamily="34" charset="0"/>
                <a:ea typeface="Calibri" pitchFamily="34" charset="-122"/>
                <a:cs typeface="Calibri" pitchFamily="34" charset="-120"/>
              </a:rPr>
              <a:t>Robust vehicle–rider association</a:t>
            </a:r>
            <a:endParaRPr lang="en-US" sz="1350" dirty="0"/>
          </a:p>
        </p:txBody>
      </p:sp>
      <p:sp>
        <p:nvSpPr>
          <p:cNvPr id="17" name="Text 12"/>
          <p:cNvSpPr/>
          <p:nvPr/>
        </p:nvSpPr>
        <p:spPr>
          <a:xfrm>
            <a:off x="868680" y="457200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Combines IoU, distance, motion consistency and tracking history — far more reliable than bounding-box overlap alone.</a:t>
            </a:r>
            <a:endParaRPr lang="en-US" sz="1100" dirty="0"/>
          </a:p>
        </p:txBody>
      </p:sp>
      <p:sp>
        <p:nvSpPr>
          <p:cNvPr id="18" name="Shape 13"/>
          <p:cNvSpPr/>
          <p:nvPr/>
        </p:nvSpPr>
        <p:spPr>
          <a:xfrm>
            <a:off x="6263640" y="3657600"/>
            <a:ext cx="5349240" cy="2148840"/>
          </a:xfrm>
          <a:prstGeom prst="roundRect">
            <a:avLst>
              <a:gd name="adj" fmla="val 3404"/>
            </a:avLst>
          </a:prstGeom>
          <a:solidFill>
            <a:srgbClr val="F7F9FC"/>
          </a:solidFill>
          <a:ln/>
          <a:effectLst>
            <a:outerShdw sx="100000" sy="100000" kx="0" ky="0" algn="bl" rotWithShape="0" blurRad="101600" dist="38100" dir="2700000">
              <a:srgbClr val="000000">
                <a:alpha val="12000"/>
              </a:srgbClr>
            </a:outerShdw>
          </a:effectLst>
        </p:spPr>
      </p:sp>
      <p:sp>
        <p:nvSpPr>
          <p:cNvPr id="19" name="Shape 14"/>
          <p:cNvSpPr/>
          <p:nvPr/>
        </p:nvSpPr>
        <p:spPr>
          <a:xfrm>
            <a:off x="6515100" y="3909060"/>
            <a:ext cx="502920" cy="502920"/>
          </a:xfrm>
          <a:prstGeom prst="ellipse">
            <a:avLst/>
          </a:prstGeom>
          <a:solidFill>
            <a:srgbClr val="0B2545"/>
          </a:solidFill>
          <a:ln/>
        </p:spPr>
      </p:sp>
      <p:pic>
        <p:nvPicPr>
          <p:cNvPr id="20" name="Image 3" descr="icons/ban_white.png">    </p:cNvPr>
          <p:cNvPicPr>
            <a:picLocks noChangeAspect="1"/>
          </p:cNvPicPr>
          <p:nvPr/>
        </p:nvPicPr>
        <p:blipFill>
          <a:blip r:embed="rId4"/>
          <a:stretch>
            <a:fillRect/>
          </a:stretch>
        </p:blipFill>
        <p:spPr>
          <a:xfrm>
            <a:off x="6628257" y="4022217"/>
            <a:ext cx="276606" cy="276606"/>
          </a:xfrm>
          <a:prstGeom prst="rect">
            <a:avLst/>
          </a:prstGeom>
        </p:spPr>
      </p:pic>
      <p:sp>
        <p:nvSpPr>
          <p:cNvPr id="21" name="Text 15"/>
          <p:cNvSpPr/>
          <p:nvPr/>
        </p:nvSpPr>
        <p:spPr>
          <a:xfrm>
            <a:off x="7178040" y="3840480"/>
            <a:ext cx="4251960" cy="594360"/>
          </a:xfrm>
          <a:prstGeom prst="rect">
            <a:avLst/>
          </a:prstGeom>
          <a:noFill/>
          <a:ln/>
        </p:spPr>
        <p:txBody>
          <a:bodyPr wrap="square" lIns="0" tIns="0" rIns="0" bIns="0" rtlCol="0" anchor="ctr"/>
          <a:lstStyle/>
          <a:p>
            <a:pPr indent="0" marL="0">
              <a:lnSpc>
                <a:spcPct val="110000"/>
              </a:lnSpc>
              <a:buNone/>
            </a:pPr>
            <a:r>
              <a:rPr lang="en-US" sz="1350" b="1" dirty="0">
                <a:solidFill>
                  <a:srgbClr val="0B2545"/>
                </a:solidFill>
                <a:latin typeface="Calibri" pitchFamily="34" charset="0"/>
                <a:ea typeface="Calibri" pitchFamily="34" charset="-122"/>
                <a:cs typeface="Calibri" pitchFamily="34" charset="-120"/>
              </a:rPr>
              <a:t>Built-in duplicate suppression</a:t>
            </a:r>
            <a:endParaRPr lang="en-US" sz="1350" dirty="0"/>
          </a:p>
        </p:txBody>
      </p:sp>
      <p:sp>
        <p:nvSpPr>
          <p:cNvPr id="22" name="Text 16"/>
          <p:cNvSpPr/>
          <p:nvPr/>
        </p:nvSpPr>
        <p:spPr>
          <a:xfrm>
            <a:off x="6583680" y="4572000"/>
            <a:ext cx="4709160" cy="1143000"/>
          </a:xfrm>
          <a:prstGeom prst="rect">
            <a:avLst/>
          </a:prstGeom>
          <a:noFill/>
          <a:ln/>
        </p:spPr>
        <p:txBody>
          <a:bodyPr wrap="square" lIns="0" tIns="0" rIns="0" bIns="0" rtlCol="0" anchor="ctr"/>
          <a:lstStyle/>
          <a:p>
            <a:pPr indent="0" marL="0">
              <a:lnSpc>
                <a:spcPct val="125000"/>
              </a:lnSpc>
              <a:buNone/>
            </a:pPr>
            <a:r>
              <a:rPr lang="en-US" sz="1100" dirty="0">
                <a:solidFill>
                  <a:srgbClr val="5B6B85"/>
                </a:solidFill>
                <a:latin typeface="Calibri" pitchFamily="34" charset="0"/>
                <a:ea typeface="Calibri" pitchFamily="34" charset="-122"/>
                <a:cs typeface="Calibri" pitchFamily="34" charset="-120"/>
              </a:rPr>
              <a:t>Prevents repeated penalties for the same event, while still capturing genuinely distinct violations.</a:t>
            </a:r>
            <a:endParaRPr lang="en-US" sz="1100" dirty="0"/>
          </a:p>
        </p:txBody>
      </p:sp>
      <p:sp>
        <p:nvSpPr>
          <p:cNvPr id="23"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5"/>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24"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82980" y="891540"/>
            <a:ext cx="777240" cy="777240"/>
          </a:xfrm>
          <a:prstGeom prst="ellipse">
            <a:avLst/>
          </a:prstGeom>
          <a:solidFill>
            <a:srgbClr val="FFB703"/>
          </a:solidFill>
          <a:ln/>
        </p:spPr>
      </p:sp>
      <p:pic>
        <p:nvPicPr>
          <p:cNvPr id="3" name="Image 0" descr="icons/shield_navy.png">    </p:cNvPr>
          <p:cNvPicPr>
            <a:picLocks noChangeAspect="1"/>
          </p:cNvPicPr>
          <p:nvPr/>
        </p:nvPicPr>
        <p:blipFill>
          <a:blip r:embed="rId1"/>
          <a:stretch>
            <a:fillRect/>
          </a:stretch>
        </p:blipFill>
        <p:spPr>
          <a:xfrm>
            <a:off x="1157859" y="1066419"/>
            <a:ext cx="427482" cy="427482"/>
          </a:xfrm>
          <a:prstGeom prst="rect">
            <a:avLst/>
          </a:prstGeom>
        </p:spPr>
      </p:pic>
      <p:sp>
        <p:nvSpPr>
          <p:cNvPr id="4" name="Text 1"/>
          <p:cNvSpPr/>
          <p:nvPr/>
        </p:nvSpPr>
        <p:spPr>
          <a:xfrm>
            <a:off x="548640" y="1828800"/>
            <a:ext cx="100584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Expected Outcome</a:t>
            </a:r>
            <a:endParaRPr lang="en-US" sz="3400" dirty="0"/>
          </a:p>
        </p:txBody>
      </p:sp>
      <p:sp>
        <p:nvSpPr>
          <p:cNvPr id="5" name="Text 2"/>
          <p:cNvSpPr/>
          <p:nvPr/>
        </p:nvSpPr>
        <p:spPr>
          <a:xfrm>
            <a:off x="548640" y="2606040"/>
            <a:ext cx="9326880" cy="1463040"/>
          </a:xfrm>
          <a:prstGeom prst="rect">
            <a:avLst/>
          </a:prstGeom>
          <a:noFill/>
          <a:ln/>
        </p:spPr>
        <p:txBody>
          <a:bodyPr wrap="square" lIns="0" tIns="0" rIns="0" bIns="0" rtlCol="0" anchor="ctr"/>
          <a:lstStyle/>
          <a:p>
            <a:pPr indent="0" marL="0">
              <a:lnSpc>
                <a:spcPct val="140000"/>
              </a:lnSpc>
              <a:buNone/>
            </a:pPr>
            <a:r>
              <a:rPr lang="en-US" sz="1550" dirty="0">
                <a:solidFill>
                  <a:srgbClr val="DCE7F5"/>
                </a:solidFill>
                <a:latin typeface="Calibri" pitchFamily="34" charset="0"/>
                <a:ea typeface="Calibri" pitchFamily="34" charset="-122"/>
                <a:cs typeface="Calibri" pitchFamily="34" charset="-120"/>
              </a:rPr>
              <a:t>A scalable, AI-powered traffic monitoring system that automatically detects vehicles and road users, identifies seven classes of violations, recognizes license plates, generates legally sound evidence, suppresses duplicate penalties, and produces analytical reports for traffic law enforcement.</a:t>
            </a:r>
            <a:endParaRPr lang="en-US" sz="1550" dirty="0"/>
          </a:p>
        </p:txBody>
      </p:sp>
      <p:sp>
        <p:nvSpPr>
          <p:cNvPr id="6" name="Shape 3"/>
          <p:cNvSpPr/>
          <p:nvPr/>
        </p:nvSpPr>
        <p:spPr>
          <a:xfrm>
            <a:off x="548640" y="4480560"/>
            <a:ext cx="146304" cy="146304"/>
          </a:xfrm>
          <a:prstGeom prst="ellipse">
            <a:avLst/>
          </a:prstGeom>
          <a:solidFill>
            <a:srgbClr val="FFB703"/>
          </a:solidFill>
          <a:ln/>
        </p:spPr>
      </p:sp>
      <p:sp>
        <p:nvSpPr>
          <p:cNvPr id="7" name="Text 4"/>
          <p:cNvSpPr/>
          <p:nvPr/>
        </p:nvSpPr>
        <p:spPr>
          <a:xfrm>
            <a:off x="868680" y="4343400"/>
            <a:ext cx="82296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Less manual review</a:t>
            </a:r>
            <a:endParaRPr lang="en-US" sz="1400" dirty="0"/>
          </a:p>
        </p:txBody>
      </p:sp>
      <p:sp>
        <p:nvSpPr>
          <p:cNvPr id="8" name="Shape 5"/>
          <p:cNvSpPr/>
          <p:nvPr/>
        </p:nvSpPr>
        <p:spPr>
          <a:xfrm>
            <a:off x="548640" y="5029200"/>
            <a:ext cx="146304" cy="146304"/>
          </a:xfrm>
          <a:prstGeom prst="ellipse">
            <a:avLst/>
          </a:prstGeom>
          <a:solidFill>
            <a:srgbClr val="FFB703"/>
          </a:solidFill>
          <a:ln/>
        </p:spPr>
      </p:sp>
      <p:sp>
        <p:nvSpPr>
          <p:cNvPr id="9" name="Text 6"/>
          <p:cNvSpPr/>
          <p:nvPr/>
        </p:nvSpPr>
        <p:spPr>
          <a:xfrm>
            <a:off x="868680" y="4892040"/>
            <a:ext cx="82296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Consistent, auditable decisions</a:t>
            </a:r>
            <a:endParaRPr lang="en-US" sz="1400" dirty="0"/>
          </a:p>
        </p:txBody>
      </p:sp>
      <p:sp>
        <p:nvSpPr>
          <p:cNvPr id="10" name="Shape 7"/>
          <p:cNvSpPr/>
          <p:nvPr/>
        </p:nvSpPr>
        <p:spPr>
          <a:xfrm>
            <a:off x="548640" y="5577840"/>
            <a:ext cx="146304" cy="146304"/>
          </a:xfrm>
          <a:prstGeom prst="ellipse">
            <a:avLst/>
          </a:prstGeom>
          <a:solidFill>
            <a:srgbClr val="FFB703"/>
          </a:solidFill>
          <a:ln/>
        </p:spPr>
      </p:sp>
      <p:sp>
        <p:nvSpPr>
          <p:cNvPr id="11" name="Text 8"/>
          <p:cNvSpPr/>
          <p:nvPr/>
        </p:nvSpPr>
        <p:spPr>
          <a:xfrm>
            <a:off x="868680" y="5440680"/>
            <a:ext cx="82296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Evidence ready for enforcement</a:t>
            </a:r>
            <a:endParaRPr lang="en-US" sz="1400" dirty="0"/>
          </a:p>
        </p:txBody>
      </p:sp>
      <p:sp>
        <p:nvSpPr>
          <p:cNvPr id="12" name="Text 9"/>
          <p:cNvSpPr/>
          <p:nvPr/>
        </p:nvSpPr>
        <p:spPr>
          <a:xfrm>
            <a:off x="548640" y="5806440"/>
            <a:ext cx="5486400" cy="457200"/>
          </a:xfrm>
          <a:prstGeom prst="rect">
            <a:avLst/>
          </a:prstGeom>
          <a:noFill/>
          <a:ln/>
        </p:spPr>
        <p:txBody>
          <a:bodyPr wrap="square" lIns="0" tIns="0" rIns="0" bIns="0" rtlCol="0" anchor="ctr"/>
          <a:lstStyle/>
          <a:p>
            <a:pPr indent="0" marL="0">
              <a:buNone/>
            </a:pPr>
            <a:r>
              <a:rPr lang="en-US" sz="1800" b="1" dirty="0">
                <a:solidFill>
                  <a:srgbClr val="FFB703"/>
                </a:solidFill>
                <a:latin typeface="Cambria" pitchFamily="34" charset="0"/>
                <a:ea typeface="Cambria" pitchFamily="34" charset="-122"/>
                <a:cs typeface="Cambria" pitchFamily="34" charset="-120"/>
              </a:rPr>
              <a:t>Thank You</a:t>
            </a:r>
            <a:endParaRPr lang="en-US" sz="1800" dirty="0"/>
          </a:p>
        </p:txBody>
      </p:sp>
      <p:sp>
        <p:nvSpPr>
          <p:cNvPr id="13" name="Text 1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B"/>
                </a:solidFill>
                <a:latin typeface="Calibri" pitchFamily="34" charset="0"/>
                <a:ea typeface="Calibri" pitchFamily="34" charset="-122"/>
                <a:cs typeface="Calibri" pitchFamily="34" charset="-120"/>
              </a:rPr>
              <a:t>Intelligent Traffic Violation Analysis &amp; Evidence Generation System</a:t>
            </a:r>
            <a:endParaRPr lang="en-US" sz="900" dirty="0"/>
          </a:p>
        </p:txBody>
      </p:sp>
      <p:sp>
        <p:nvSpPr>
          <p:cNvPr id="14" name="Text 1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8FA9C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Traffic Violation Analysis and Evidence Generation System</dc:title>
  <dc:subject>PptxGenJS Presentation</dc:subject>
  <dc:creator>Team</dc:creator>
  <cp:lastModifiedBy>Team</cp:lastModifiedBy>
  <cp:revision>1</cp:revision>
  <dcterms:created xsi:type="dcterms:W3CDTF">2026-06-21T10:12:44Z</dcterms:created>
  <dcterms:modified xsi:type="dcterms:W3CDTF">2026-06-21T10:12:44Z</dcterms:modified>
</cp:coreProperties>
</file>